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0.png"/><Relationship Id="rId14" Type="http://schemas.openxmlformats.org/officeDocument/2006/relationships/image" Target="../media/image-1-14.png"/><Relationship Id="rId15" Type="http://schemas.openxmlformats.org/officeDocument/2006/relationships/image" Target="../media/image-1-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odex\2026-06-24\v-home-repos\work\pngtopptx-github\work\generated-slide-validation\assets\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" y="102413"/>
            <a:ext cx="6708038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Cooling Loop Risk Map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60020" y="524866"/>
            <a:ext cx="5541264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sensor drift to thermal throttling: where operations teams lose margin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3" y="772668"/>
            <a:ext cx="2975458" cy="2215591"/>
          </a:xfrm>
          <a:prstGeom prst="roundRect">
            <a:avLst>
              <a:gd name="adj" fmla="val 2641"/>
            </a:avLst>
          </a:prstGeom>
          <a:solidFill>
            <a:srgbClr val="071A2C">
              <a:alpha val="94000"/>
            </a:srgbClr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1966" y="845820"/>
            <a:ext cx="233172" cy="233172"/>
          </a:xfrm>
          <a:prstGeom prst="ellipse">
            <a:avLst/>
          </a:prstGeom>
          <a:solidFill>
            <a:srgbClr val="20D6F0"/>
          </a:solidFill>
          <a:ln w="7290">
            <a:solidFill>
              <a:srgbClr val="20D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1966" y="845820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3659" y="823874"/>
            <a:ext cx="1750162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Layer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47802" y="1042416"/>
            <a:ext cx="2552090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what matters. Calibrate. Trust but verify.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247802" y="1217066"/>
            <a:ext cx="1166774" cy="1639519"/>
          </a:xfrm>
          <a:prstGeom prst="roundRect">
            <a:avLst>
              <a:gd name="adj" fmla="val 3762"/>
            </a:avLst>
          </a:prstGeom>
          <a:solidFill>
            <a:srgbClr val="07172A"/>
          </a:solidFill>
          <a:ln w="7290">
            <a:solidFill>
              <a:srgbClr val="2E5577"/>
            </a:solidFill>
            <a:prstDash val="solid"/>
          </a:ln>
        </p:spPr>
      </p:sp>
      <p:pic>
        <p:nvPicPr>
          <p:cNvPr id="11" name="Image 1" descr="C:\Users\user\Documents\Codex\2026-06-24\v-home-repos\work\pngtopptx-github\work\generated-slide-validation\assets\icons\thermo_l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5" y="1304849"/>
            <a:ext cx="203911" cy="2039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018" y="1290218"/>
            <a:ext cx="71414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820" dirty="0"/>
          </a:p>
        </p:txBody>
      </p:sp>
      <p:sp>
        <p:nvSpPr>
          <p:cNvPr id="13" name="Text 9"/>
          <p:cNvSpPr/>
          <p:nvPr/>
        </p:nvSpPr>
        <p:spPr>
          <a:xfrm>
            <a:off x="598018" y="1399032"/>
            <a:ext cx="7287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Inlet / Outlet / dT</a:t>
            </a:r>
            <a:endParaRPr lang="en-US" sz="730" dirty="0"/>
          </a:p>
        </p:txBody>
      </p:sp>
      <p:pic>
        <p:nvPicPr>
          <p:cNvPr id="14" name="Image 2" descr="C:\Users\user\Documents\Codex\2026-06-24\v-home-repos\work\pngtopptx-github\work\generated-slide-validation\assets\icons\droplet_l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5" y="1610258"/>
            <a:ext cx="203911" cy="20391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8018" y="1595628"/>
            <a:ext cx="71414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</a:t>
            </a:r>
            <a:endParaRPr lang="en-US" sz="820" dirty="0"/>
          </a:p>
        </p:txBody>
      </p:sp>
      <p:sp>
        <p:nvSpPr>
          <p:cNvPr id="16" name="Text 11"/>
          <p:cNvSpPr/>
          <p:nvPr/>
        </p:nvSpPr>
        <p:spPr>
          <a:xfrm>
            <a:off x="598018" y="1705356"/>
            <a:ext cx="7287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/ Return</a:t>
            </a:r>
            <a:endParaRPr lang="en-US" sz="730" dirty="0"/>
          </a:p>
        </p:txBody>
      </p:sp>
      <p:pic>
        <p:nvPicPr>
          <p:cNvPr id="17" name="Image 3" descr="C:\Users\user\Documents\Codex\2026-06-24\v-home-repos\work\pngtopptx-github\work\generated-slide-validation\assets\icons\wave_l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5" y="1916582"/>
            <a:ext cx="203911" cy="2039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8018" y="1901952"/>
            <a:ext cx="71414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Rate</a:t>
            </a:r>
            <a:endParaRPr lang="en-US" sz="820" dirty="0"/>
          </a:p>
        </p:txBody>
      </p:sp>
      <p:sp>
        <p:nvSpPr>
          <p:cNvPr id="19" name="Text 13"/>
          <p:cNvSpPr/>
          <p:nvPr/>
        </p:nvSpPr>
        <p:spPr>
          <a:xfrm>
            <a:off x="598018" y="2011680"/>
            <a:ext cx="7287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loop / Per rack</a:t>
            </a:r>
            <a:endParaRPr lang="en-US" sz="730" dirty="0"/>
          </a:p>
        </p:txBody>
      </p:sp>
      <p:pic>
        <p:nvPicPr>
          <p:cNvPr id="20" name="Image 4" descr="C:\Users\user\Documents\Codex\2026-06-24\v-home-repos\work\pngtopptx-github\work\generated-slide-validation\assets\icons\bolt_l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5" y="2222906"/>
            <a:ext cx="203911" cy="20391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8018" y="2208276"/>
            <a:ext cx="71414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20" dirty="0"/>
          </a:p>
        </p:txBody>
      </p:sp>
      <p:sp>
        <p:nvSpPr>
          <p:cNvPr id="22" name="Text 15"/>
          <p:cNvSpPr/>
          <p:nvPr/>
        </p:nvSpPr>
        <p:spPr>
          <a:xfrm>
            <a:off x="598018" y="2318004"/>
            <a:ext cx="7287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Pumps / Chillers / IT</a:t>
            </a:r>
            <a:endParaRPr lang="en-US" sz="730" dirty="0"/>
          </a:p>
        </p:txBody>
      </p:sp>
      <p:pic>
        <p:nvPicPr>
          <p:cNvPr id="23" name="Image 5" descr="C:\Users\user\Documents\Codex\2026-06-24\v-home-repos\work\pngtopptx-github\work\generated-slide-validation\assets\icons\gauge_l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5" y="2529230"/>
            <a:ext cx="203911" cy="20391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98018" y="2514600"/>
            <a:ext cx="714146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820" dirty="0"/>
          </a:p>
        </p:txBody>
      </p:sp>
      <p:sp>
        <p:nvSpPr>
          <p:cNvPr id="25" name="Text 17"/>
          <p:cNvSpPr/>
          <p:nvPr/>
        </p:nvSpPr>
        <p:spPr>
          <a:xfrm>
            <a:off x="598018" y="2623414"/>
            <a:ext cx="7287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30 days</a:t>
            </a:r>
            <a:endParaRPr lang="en-US" sz="730" dirty="0"/>
          </a:p>
        </p:txBody>
      </p:sp>
      <p:sp>
        <p:nvSpPr>
          <p:cNvPr id="26" name="Shape 18"/>
          <p:cNvSpPr/>
          <p:nvPr/>
        </p:nvSpPr>
        <p:spPr>
          <a:xfrm>
            <a:off x="1487729" y="1217066"/>
            <a:ext cx="1531620" cy="991210"/>
          </a:xfrm>
          <a:prstGeom prst="roundRect">
            <a:avLst>
              <a:gd name="adj" fmla="val 4428"/>
            </a:avLst>
          </a:prstGeom>
          <a:solidFill>
            <a:srgbClr val="07172A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574597" y="1290218"/>
            <a:ext cx="1166774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Summary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1603858" y="1501445"/>
            <a:ext cx="539496" cy="539496"/>
          </a:xfrm>
          <a:prstGeom prst="ellipse">
            <a:avLst/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1706270" y="1602943"/>
            <a:ext cx="335585" cy="335585"/>
          </a:xfrm>
          <a:prstGeom prst="ellipse">
            <a:avLst/>
          </a:prstGeom>
          <a:solidFill>
            <a:srgbClr val="081525"/>
          </a:solidFill>
          <a:ln w="7290">
            <a:solidFill>
              <a:srgbClr val="081525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880921" y="1494130"/>
            <a:ext cx="80467" cy="167335"/>
          </a:xfrm>
          <a:prstGeom prst="roundRect">
            <a:avLst>
              <a:gd name="adj" fmla="val 9091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880921" y="1494130"/>
            <a:ext cx="80467" cy="87782"/>
          </a:xfrm>
          <a:prstGeom prst="roundRect">
            <a:avLst>
              <a:gd name="adj" fmla="val 9091"/>
            </a:avLst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2172614" y="1472184"/>
            <a:ext cx="58338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2172614" y="1589227"/>
            <a:ext cx="58338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1,248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2275027" y="1807769"/>
            <a:ext cx="641909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  92.1%</a:t>
            </a:r>
            <a:endParaRPr lang="en-US" sz="780" dirty="0"/>
          </a:p>
        </p:txBody>
      </p:sp>
      <p:sp>
        <p:nvSpPr>
          <p:cNvPr id="35" name="Shape 27"/>
          <p:cNvSpPr/>
          <p:nvPr/>
        </p:nvSpPr>
        <p:spPr>
          <a:xfrm>
            <a:off x="2187245" y="1829714"/>
            <a:ext cx="65837" cy="65837"/>
          </a:xfrm>
          <a:prstGeom prst="ellipse">
            <a:avLst/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275027" y="1945843"/>
            <a:ext cx="641909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   6.3%</a:t>
            </a:r>
            <a:endParaRPr lang="en-US" sz="780" dirty="0"/>
          </a:p>
        </p:txBody>
      </p:sp>
      <p:sp>
        <p:nvSpPr>
          <p:cNvPr id="37" name="Shape 29"/>
          <p:cNvSpPr/>
          <p:nvPr/>
        </p:nvSpPr>
        <p:spPr>
          <a:xfrm>
            <a:off x="2187245" y="1967789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275027" y="2083918"/>
            <a:ext cx="641909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  1.6%</a:t>
            </a:r>
            <a:endParaRPr lang="en-US" sz="780" dirty="0"/>
          </a:p>
        </p:txBody>
      </p:sp>
      <p:sp>
        <p:nvSpPr>
          <p:cNvPr id="39" name="Shape 31"/>
          <p:cNvSpPr/>
          <p:nvPr/>
        </p:nvSpPr>
        <p:spPr>
          <a:xfrm>
            <a:off x="2187245" y="2105863"/>
            <a:ext cx="65837" cy="65837"/>
          </a:xfrm>
          <a:prstGeom prst="ellipse">
            <a:avLst/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1487729" y="2259482"/>
            <a:ext cx="1531620" cy="598018"/>
          </a:xfrm>
          <a:prstGeom prst="roundRect">
            <a:avLst>
              <a:gd name="adj" fmla="val 7339"/>
            </a:avLst>
          </a:prstGeom>
          <a:solidFill>
            <a:srgbClr val="07172A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1574597" y="2318004"/>
            <a:ext cx="11667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Drift Risks (30d)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1574597" y="2463394"/>
            <a:ext cx="728777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 sensor drift</a:t>
            </a:r>
            <a:endParaRPr lang="en-US" sz="780" dirty="0"/>
          </a:p>
        </p:txBody>
      </p:sp>
      <p:sp>
        <p:nvSpPr>
          <p:cNvPr id="43" name="Text 35"/>
          <p:cNvSpPr/>
          <p:nvPr/>
        </p:nvSpPr>
        <p:spPr>
          <a:xfrm>
            <a:off x="2478938" y="2463394"/>
            <a:ext cx="394106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 C</a:t>
            </a:r>
            <a:endParaRPr lang="en-US" sz="780" dirty="0"/>
          </a:p>
        </p:txBody>
      </p:sp>
      <p:sp>
        <p:nvSpPr>
          <p:cNvPr id="44" name="Text 36"/>
          <p:cNvSpPr/>
          <p:nvPr/>
        </p:nvSpPr>
        <p:spPr>
          <a:xfrm>
            <a:off x="1574597" y="2558491"/>
            <a:ext cx="728777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offset</a:t>
            </a:r>
            <a:endParaRPr lang="en-US" sz="780" dirty="0"/>
          </a:p>
        </p:txBody>
      </p:sp>
      <p:sp>
        <p:nvSpPr>
          <p:cNvPr id="45" name="Text 37"/>
          <p:cNvSpPr/>
          <p:nvPr/>
        </p:nvSpPr>
        <p:spPr>
          <a:xfrm>
            <a:off x="2478938" y="2558491"/>
            <a:ext cx="394106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psi</a:t>
            </a:r>
            <a:endParaRPr lang="en-US" sz="780" dirty="0"/>
          </a:p>
        </p:txBody>
      </p:sp>
      <p:sp>
        <p:nvSpPr>
          <p:cNvPr id="46" name="Text 38"/>
          <p:cNvSpPr/>
          <p:nvPr/>
        </p:nvSpPr>
        <p:spPr>
          <a:xfrm>
            <a:off x="1574597" y="2652674"/>
            <a:ext cx="728777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meter bias</a:t>
            </a:r>
            <a:endParaRPr lang="en-US" sz="780" dirty="0"/>
          </a:p>
        </p:txBody>
      </p:sp>
      <p:sp>
        <p:nvSpPr>
          <p:cNvPr id="47" name="Text 39"/>
          <p:cNvSpPr/>
          <p:nvPr/>
        </p:nvSpPr>
        <p:spPr>
          <a:xfrm>
            <a:off x="2478938" y="2652674"/>
            <a:ext cx="394106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780" dirty="0"/>
          </a:p>
        </p:txBody>
      </p:sp>
      <p:sp>
        <p:nvSpPr>
          <p:cNvPr id="48" name="Text 40"/>
          <p:cNvSpPr/>
          <p:nvPr/>
        </p:nvSpPr>
        <p:spPr>
          <a:xfrm>
            <a:off x="1574597" y="2747772"/>
            <a:ext cx="728777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probe</a:t>
            </a:r>
            <a:endParaRPr lang="en-US" sz="780" dirty="0"/>
          </a:p>
        </p:txBody>
      </p:sp>
      <p:sp>
        <p:nvSpPr>
          <p:cNvPr id="49" name="Text 41"/>
          <p:cNvSpPr/>
          <p:nvPr/>
        </p:nvSpPr>
        <p:spPr>
          <a:xfrm>
            <a:off x="2478938" y="2747772"/>
            <a:ext cx="394106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 C</a:t>
            </a:r>
            <a:endParaRPr lang="en-US" sz="780" dirty="0"/>
          </a:p>
        </p:txBody>
      </p:sp>
      <p:sp>
        <p:nvSpPr>
          <p:cNvPr id="50" name="Shape 42"/>
          <p:cNvSpPr/>
          <p:nvPr/>
        </p:nvSpPr>
        <p:spPr>
          <a:xfrm>
            <a:off x="3120847" y="772668"/>
            <a:ext cx="6562649" cy="2215591"/>
          </a:xfrm>
          <a:prstGeom prst="roundRect">
            <a:avLst>
              <a:gd name="adj" fmla="val 2641"/>
            </a:avLst>
          </a:prstGeom>
          <a:solidFill>
            <a:srgbClr val="071A2C">
              <a:alpha val="94000"/>
            </a:srgbClr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4667098" y="845820"/>
            <a:ext cx="350032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Loop Overview (Primary Loop)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3266237" y="1347826"/>
            <a:ext cx="962863" cy="1224382"/>
          </a:xfrm>
          <a:prstGeom prst="roundRect">
            <a:avLst>
              <a:gd name="adj" fmla="val 6078"/>
            </a:avLst>
          </a:prstGeom>
          <a:solidFill>
            <a:srgbClr val="07172A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3397910" y="1180490"/>
            <a:ext cx="728777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 Plant</a:t>
            </a:r>
            <a:endParaRPr lang="en-US" sz="960" dirty="0"/>
          </a:p>
        </p:txBody>
      </p:sp>
      <p:sp>
        <p:nvSpPr>
          <p:cNvPr id="54" name="Shape 46"/>
          <p:cNvSpPr/>
          <p:nvPr/>
        </p:nvSpPr>
        <p:spPr>
          <a:xfrm>
            <a:off x="3354019" y="1442923"/>
            <a:ext cx="174650" cy="174650"/>
          </a:xfrm>
          <a:prstGeom prst="ellipse">
            <a:avLst/>
          </a:prstGeom>
          <a:solidFill>
            <a:srgbClr val="0A2A43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3354019" y="1442923"/>
            <a:ext cx="174650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5C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300" dirty="0"/>
          </a:p>
        </p:txBody>
      </p:sp>
      <p:sp>
        <p:nvSpPr>
          <p:cNvPr id="56" name="Shape 48"/>
          <p:cNvSpPr/>
          <p:nvPr/>
        </p:nvSpPr>
        <p:spPr>
          <a:xfrm>
            <a:off x="3579876" y="1442923"/>
            <a:ext cx="174650" cy="174650"/>
          </a:xfrm>
          <a:prstGeom prst="ellipse">
            <a:avLst/>
          </a:prstGeom>
          <a:solidFill>
            <a:srgbClr val="0A2A43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3579876" y="1442923"/>
            <a:ext cx="174650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5C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300" dirty="0"/>
          </a:p>
        </p:txBody>
      </p:sp>
      <p:sp>
        <p:nvSpPr>
          <p:cNvPr id="58" name="Shape 50"/>
          <p:cNvSpPr/>
          <p:nvPr/>
        </p:nvSpPr>
        <p:spPr>
          <a:xfrm>
            <a:off x="3806647" y="1442923"/>
            <a:ext cx="174650" cy="174650"/>
          </a:xfrm>
          <a:prstGeom prst="ellipse">
            <a:avLst/>
          </a:prstGeom>
          <a:solidFill>
            <a:srgbClr val="0A2A43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3806647" y="1442923"/>
            <a:ext cx="174650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5C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300" dirty="0"/>
          </a:p>
        </p:txBody>
      </p:sp>
      <p:sp>
        <p:nvSpPr>
          <p:cNvPr id="60" name="Shape 52"/>
          <p:cNvSpPr/>
          <p:nvPr/>
        </p:nvSpPr>
        <p:spPr>
          <a:xfrm>
            <a:off x="3324758" y="1734617"/>
            <a:ext cx="671170" cy="350215"/>
          </a:xfrm>
          <a:prstGeom prst="roundRect">
            <a:avLst>
              <a:gd name="adj" fmla="val 8355"/>
            </a:avLst>
          </a:prstGeom>
          <a:solidFill>
            <a:srgbClr val="061323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3397910" y="1778508"/>
            <a:ext cx="510235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 1</a:t>
            </a:r>
            <a:endParaRPr lang="en-US" sz="750" dirty="0"/>
          </a:p>
        </p:txBody>
      </p:sp>
      <p:sp>
        <p:nvSpPr>
          <p:cNvPr id="62" name="Text 54"/>
          <p:cNvSpPr/>
          <p:nvPr/>
        </p:nvSpPr>
        <p:spPr>
          <a:xfrm>
            <a:off x="3397910" y="1894637"/>
            <a:ext cx="510235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 5.6</a:t>
            </a:r>
            <a:endParaRPr lang="en-US" sz="7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78%</a:t>
            </a:r>
            <a:endParaRPr lang="en-US" sz="740" dirty="0"/>
          </a:p>
        </p:txBody>
      </p:sp>
      <p:sp>
        <p:nvSpPr>
          <p:cNvPr id="63" name="Shape 55"/>
          <p:cNvSpPr/>
          <p:nvPr/>
        </p:nvSpPr>
        <p:spPr>
          <a:xfrm>
            <a:off x="3324758" y="2142439"/>
            <a:ext cx="671170" cy="350215"/>
          </a:xfrm>
          <a:prstGeom prst="roundRect">
            <a:avLst>
              <a:gd name="adj" fmla="val 8355"/>
            </a:avLst>
          </a:prstGeom>
          <a:solidFill>
            <a:srgbClr val="061323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3397910" y="2186330"/>
            <a:ext cx="510235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 2</a:t>
            </a:r>
            <a:endParaRPr lang="en-US" sz="750" dirty="0"/>
          </a:p>
        </p:txBody>
      </p:sp>
      <p:sp>
        <p:nvSpPr>
          <p:cNvPr id="65" name="Text 57"/>
          <p:cNvSpPr/>
          <p:nvPr/>
        </p:nvSpPr>
        <p:spPr>
          <a:xfrm>
            <a:off x="3397910" y="2303374"/>
            <a:ext cx="510235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 5.1</a:t>
            </a:r>
            <a:endParaRPr lang="en-US" sz="7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62%</a:t>
            </a:r>
            <a:endParaRPr lang="en-US" sz="740" dirty="0"/>
          </a:p>
        </p:txBody>
      </p:sp>
      <p:sp>
        <p:nvSpPr>
          <p:cNvPr id="66" name="Shape 58"/>
          <p:cNvSpPr/>
          <p:nvPr/>
        </p:nvSpPr>
        <p:spPr>
          <a:xfrm>
            <a:off x="4229100" y="1705356"/>
            <a:ext cx="335585" cy="1829"/>
          </a:xfrm>
          <a:prstGeom prst="line">
            <a:avLst/>
          </a:prstGeom>
          <a:noFill/>
          <a:ln w="21869">
            <a:solidFill>
              <a:srgbClr val="65C7EF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4520794" y="1639519"/>
            <a:ext cx="218542" cy="145390"/>
          </a:xfrm>
          <a:prstGeom prst="chevron">
            <a:avLst/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4637837" y="1428293"/>
            <a:ext cx="524866" cy="918058"/>
          </a:xfrm>
          <a:prstGeom prst="roundRect">
            <a:avLst>
              <a:gd name="adj" fmla="val 19512"/>
            </a:avLst>
          </a:prstGeom>
          <a:solidFill>
            <a:srgbClr val="102D4E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4732020" y="1646834"/>
            <a:ext cx="364846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1000" dirty="0"/>
          </a:p>
        </p:txBody>
      </p:sp>
      <p:sp>
        <p:nvSpPr>
          <p:cNvPr id="70" name="Text 62"/>
          <p:cNvSpPr/>
          <p:nvPr/>
        </p:nvSpPr>
        <p:spPr>
          <a:xfrm>
            <a:off x="4732020" y="1837030"/>
            <a:ext cx="364846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C</a:t>
            </a:r>
            <a:endParaRPr lang="en-US" sz="94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bar</a:t>
            </a:r>
            <a:endParaRPr lang="en-US" sz="940" dirty="0"/>
          </a:p>
        </p:txBody>
      </p:sp>
      <p:sp>
        <p:nvSpPr>
          <p:cNvPr id="71" name="Text 63"/>
          <p:cNvSpPr/>
          <p:nvPr/>
        </p:nvSpPr>
        <p:spPr>
          <a:xfrm>
            <a:off x="4608576" y="1282903"/>
            <a:ext cx="693115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5C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Header</a:t>
            </a:r>
            <a:endParaRPr lang="en-US" sz="800" dirty="0"/>
          </a:p>
        </p:txBody>
      </p:sp>
      <p:sp>
        <p:nvSpPr>
          <p:cNvPr id="72" name="Shape 64"/>
          <p:cNvSpPr/>
          <p:nvPr/>
        </p:nvSpPr>
        <p:spPr>
          <a:xfrm>
            <a:off x="5162702" y="1676095"/>
            <a:ext cx="291694" cy="1829"/>
          </a:xfrm>
          <a:prstGeom prst="line">
            <a:avLst/>
          </a:prstGeom>
          <a:noFill/>
          <a:ln w="21869">
            <a:solidFill>
              <a:srgbClr val="65C7EF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5410505" y="1610258"/>
            <a:ext cx="218542" cy="145390"/>
          </a:xfrm>
          <a:prstGeom prst="chevron">
            <a:avLst/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5410505" y="1114654"/>
            <a:ext cx="641909" cy="422453"/>
          </a:xfrm>
          <a:prstGeom prst="roundRect">
            <a:avLst>
              <a:gd name="adj" fmla="val 8658"/>
            </a:avLst>
          </a:prstGeom>
          <a:solidFill>
            <a:srgbClr val="061323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5410505" y="1165860"/>
            <a:ext cx="641909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A</a:t>
            </a:r>
            <a:endParaRPr lang="en-US" sz="750" dirty="0"/>
          </a:p>
        </p:txBody>
      </p:sp>
      <p:sp>
        <p:nvSpPr>
          <p:cNvPr id="76" name="Text 68"/>
          <p:cNvSpPr/>
          <p:nvPr/>
        </p:nvSpPr>
        <p:spPr>
          <a:xfrm>
            <a:off x="5483657" y="1282903"/>
            <a:ext cx="495605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78%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245 L/s</a:t>
            </a:r>
            <a:endParaRPr lang="en-US" sz="730" dirty="0"/>
          </a:p>
        </p:txBody>
      </p:sp>
      <p:sp>
        <p:nvSpPr>
          <p:cNvPr id="77" name="Shape 69"/>
          <p:cNvSpPr/>
          <p:nvPr/>
        </p:nvSpPr>
        <p:spPr>
          <a:xfrm>
            <a:off x="5570525" y="1602943"/>
            <a:ext cx="291694" cy="291694"/>
          </a:xfrm>
          <a:prstGeom prst="ellipse">
            <a:avLst/>
          </a:prstGeom>
          <a:solidFill>
            <a:srgbClr val="07172A"/>
          </a:solidFill>
          <a:ln w="14580">
            <a:solidFill>
              <a:srgbClr val="65C7EF"/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5658307" y="1690726"/>
            <a:ext cx="117043" cy="117043"/>
          </a:xfrm>
          <a:prstGeom prst="ellipse">
            <a:avLst/>
          </a:prstGeom>
          <a:solidFill>
            <a:srgbClr val="081525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5410505" y="2083918"/>
            <a:ext cx="641909" cy="422453"/>
          </a:xfrm>
          <a:prstGeom prst="roundRect">
            <a:avLst>
              <a:gd name="adj" fmla="val 8658"/>
            </a:avLst>
          </a:prstGeom>
          <a:solidFill>
            <a:srgbClr val="061323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80" name="Text 72"/>
          <p:cNvSpPr/>
          <p:nvPr/>
        </p:nvSpPr>
        <p:spPr>
          <a:xfrm>
            <a:off x="5410505" y="2135124"/>
            <a:ext cx="641909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B</a:t>
            </a:r>
            <a:endParaRPr lang="en-US" sz="750" dirty="0"/>
          </a:p>
        </p:txBody>
      </p:sp>
      <p:sp>
        <p:nvSpPr>
          <p:cNvPr id="81" name="Text 73"/>
          <p:cNvSpPr/>
          <p:nvPr/>
        </p:nvSpPr>
        <p:spPr>
          <a:xfrm>
            <a:off x="5483657" y="2252167"/>
            <a:ext cx="495605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62%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198 L/s</a:t>
            </a:r>
            <a:endParaRPr lang="en-US" sz="730" dirty="0"/>
          </a:p>
        </p:txBody>
      </p:sp>
      <p:sp>
        <p:nvSpPr>
          <p:cNvPr id="82" name="Shape 74"/>
          <p:cNvSpPr/>
          <p:nvPr/>
        </p:nvSpPr>
        <p:spPr>
          <a:xfrm>
            <a:off x="5570525" y="2551176"/>
            <a:ext cx="291694" cy="291694"/>
          </a:xfrm>
          <a:prstGeom prst="ellipse">
            <a:avLst/>
          </a:prstGeom>
          <a:solidFill>
            <a:srgbClr val="07172A"/>
          </a:solidFill>
          <a:ln w="14580">
            <a:solidFill>
              <a:srgbClr val="65C7EF"/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5658307" y="2638044"/>
            <a:ext cx="117043" cy="117043"/>
          </a:xfrm>
          <a:prstGeom prst="ellipse">
            <a:avLst/>
          </a:prstGeom>
          <a:solidFill>
            <a:srgbClr val="081525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5862218" y="1749247"/>
            <a:ext cx="394106" cy="1829"/>
          </a:xfrm>
          <a:prstGeom prst="line">
            <a:avLst/>
          </a:prstGeom>
          <a:noFill/>
          <a:ln w="21869">
            <a:solidFill>
              <a:srgbClr val="65C7EF"/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5862218" y="1749247"/>
            <a:ext cx="394106" cy="947318"/>
          </a:xfrm>
          <a:prstGeom prst="line">
            <a:avLst/>
          </a:prstGeom>
          <a:noFill/>
          <a:ln w="21869">
            <a:solidFill>
              <a:srgbClr val="65C7EF"/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6197803" y="1676095"/>
            <a:ext cx="218542" cy="145390"/>
          </a:xfrm>
          <a:prstGeom prst="chevron">
            <a:avLst/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87" name="Shape 79"/>
          <p:cNvSpPr/>
          <p:nvPr/>
        </p:nvSpPr>
        <p:spPr>
          <a:xfrm>
            <a:off x="6489497" y="1035101"/>
            <a:ext cx="1312164" cy="1442923"/>
          </a:xfrm>
          <a:prstGeom prst="roundRect">
            <a:avLst>
              <a:gd name="adj" fmla="val 3345"/>
            </a:avLst>
          </a:prstGeom>
          <a:solidFill>
            <a:srgbClr val="061323">
              <a:alpha val="64000"/>
            </a:srgbClr>
          </a:solidFill>
          <a:ln w="7290">
            <a:solidFill>
              <a:srgbClr val="7F99AE"/>
            </a:solidFill>
            <a:prstDash val="solid"/>
          </a:ln>
        </p:spPr>
      </p:sp>
      <p:sp>
        <p:nvSpPr>
          <p:cNvPr id="88" name="Text 80"/>
          <p:cNvSpPr/>
          <p:nvPr/>
        </p:nvSpPr>
        <p:spPr>
          <a:xfrm>
            <a:off x="6868973" y="1121969"/>
            <a:ext cx="583387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 Rows</a:t>
            </a:r>
            <a:endParaRPr lang="en-US" sz="1000" dirty="0"/>
          </a:p>
        </p:txBody>
      </p:sp>
      <p:sp>
        <p:nvSpPr>
          <p:cNvPr id="89" name="Shape 81"/>
          <p:cNvSpPr/>
          <p:nvPr/>
        </p:nvSpPr>
        <p:spPr>
          <a:xfrm>
            <a:off x="6606540" y="1312164"/>
            <a:ext cx="203911" cy="422453"/>
          </a:xfrm>
          <a:prstGeom prst="roundRect">
            <a:avLst>
              <a:gd name="adj" fmla="val 7175"/>
            </a:avLst>
          </a:prstGeom>
          <a:solidFill>
            <a:srgbClr val="0B22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6650431" y="1369771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6650431" y="1435608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6650431" y="1501445"/>
            <a:ext cx="117043" cy="21946"/>
          </a:xfrm>
          <a:prstGeom prst="roundRect">
            <a:avLst>
              <a:gd name="adj" fmla="val 3333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93" name="Shape 85"/>
          <p:cNvSpPr/>
          <p:nvPr/>
        </p:nvSpPr>
        <p:spPr>
          <a:xfrm>
            <a:off x="6650431" y="1567282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6650431" y="1632204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95" name="Shape 87"/>
          <p:cNvSpPr/>
          <p:nvPr/>
        </p:nvSpPr>
        <p:spPr>
          <a:xfrm>
            <a:off x="6898234" y="1312164"/>
            <a:ext cx="203911" cy="422453"/>
          </a:xfrm>
          <a:prstGeom prst="roundRect">
            <a:avLst>
              <a:gd name="adj" fmla="val 7175"/>
            </a:avLst>
          </a:prstGeom>
          <a:solidFill>
            <a:srgbClr val="0B22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96" name="Shape 88"/>
          <p:cNvSpPr/>
          <p:nvPr/>
        </p:nvSpPr>
        <p:spPr>
          <a:xfrm>
            <a:off x="6942125" y="1369771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97" name="Shape 89"/>
          <p:cNvSpPr/>
          <p:nvPr/>
        </p:nvSpPr>
        <p:spPr>
          <a:xfrm>
            <a:off x="6942125" y="1435608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98" name="Shape 90"/>
          <p:cNvSpPr/>
          <p:nvPr/>
        </p:nvSpPr>
        <p:spPr>
          <a:xfrm>
            <a:off x="6942125" y="1501445"/>
            <a:ext cx="117043" cy="21946"/>
          </a:xfrm>
          <a:prstGeom prst="roundRect">
            <a:avLst>
              <a:gd name="adj" fmla="val 3333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99" name="Shape 91"/>
          <p:cNvSpPr/>
          <p:nvPr/>
        </p:nvSpPr>
        <p:spPr>
          <a:xfrm>
            <a:off x="6942125" y="1567282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00" name="Shape 92"/>
          <p:cNvSpPr/>
          <p:nvPr/>
        </p:nvSpPr>
        <p:spPr>
          <a:xfrm>
            <a:off x="6942125" y="1632204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01" name="Shape 93"/>
          <p:cNvSpPr/>
          <p:nvPr/>
        </p:nvSpPr>
        <p:spPr>
          <a:xfrm>
            <a:off x="7189927" y="1312164"/>
            <a:ext cx="203911" cy="422453"/>
          </a:xfrm>
          <a:prstGeom prst="roundRect">
            <a:avLst>
              <a:gd name="adj" fmla="val 7175"/>
            </a:avLst>
          </a:prstGeom>
          <a:solidFill>
            <a:srgbClr val="0B22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102" name="Shape 94"/>
          <p:cNvSpPr/>
          <p:nvPr/>
        </p:nvSpPr>
        <p:spPr>
          <a:xfrm>
            <a:off x="7232904" y="1369771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03" name="Shape 95"/>
          <p:cNvSpPr/>
          <p:nvPr/>
        </p:nvSpPr>
        <p:spPr>
          <a:xfrm>
            <a:off x="7232904" y="1435608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04" name="Shape 96"/>
          <p:cNvSpPr/>
          <p:nvPr/>
        </p:nvSpPr>
        <p:spPr>
          <a:xfrm>
            <a:off x="7232904" y="1501445"/>
            <a:ext cx="117043" cy="21946"/>
          </a:xfrm>
          <a:prstGeom prst="roundRect">
            <a:avLst>
              <a:gd name="adj" fmla="val 3333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105" name="Shape 97"/>
          <p:cNvSpPr/>
          <p:nvPr/>
        </p:nvSpPr>
        <p:spPr>
          <a:xfrm>
            <a:off x="7232904" y="1567282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06" name="Shape 98"/>
          <p:cNvSpPr/>
          <p:nvPr/>
        </p:nvSpPr>
        <p:spPr>
          <a:xfrm>
            <a:off x="7232904" y="1632204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07" name="Shape 99"/>
          <p:cNvSpPr/>
          <p:nvPr/>
        </p:nvSpPr>
        <p:spPr>
          <a:xfrm>
            <a:off x="7481621" y="1312164"/>
            <a:ext cx="203911" cy="422453"/>
          </a:xfrm>
          <a:prstGeom prst="roundRect">
            <a:avLst>
              <a:gd name="adj" fmla="val 7175"/>
            </a:avLst>
          </a:prstGeom>
          <a:solidFill>
            <a:srgbClr val="0B22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108" name="Shape 100"/>
          <p:cNvSpPr/>
          <p:nvPr/>
        </p:nvSpPr>
        <p:spPr>
          <a:xfrm>
            <a:off x="7524598" y="1369771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09" name="Shape 101"/>
          <p:cNvSpPr/>
          <p:nvPr/>
        </p:nvSpPr>
        <p:spPr>
          <a:xfrm>
            <a:off x="7524598" y="1435608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>
            <a:off x="7524598" y="1501445"/>
            <a:ext cx="117043" cy="21946"/>
          </a:xfrm>
          <a:prstGeom prst="roundRect">
            <a:avLst>
              <a:gd name="adj" fmla="val 3333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111" name="Shape 103"/>
          <p:cNvSpPr/>
          <p:nvPr/>
        </p:nvSpPr>
        <p:spPr>
          <a:xfrm>
            <a:off x="7524598" y="1567282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12" name="Shape 104"/>
          <p:cNvSpPr/>
          <p:nvPr/>
        </p:nvSpPr>
        <p:spPr>
          <a:xfrm>
            <a:off x="7524598" y="1632204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13" name="Shape 105"/>
          <p:cNvSpPr/>
          <p:nvPr/>
        </p:nvSpPr>
        <p:spPr>
          <a:xfrm>
            <a:off x="6606540" y="1909267"/>
            <a:ext cx="203911" cy="422453"/>
          </a:xfrm>
          <a:prstGeom prst="roundRect">
            <a:avLst>
              <a:gd name="adj" fmla="val 7175"/>
            </a:avLst>
          </a:prstGeom>
          <a:solidFill>
            <a:srgbClr val="0B22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114" name="Shape 106"/>
          <p:cNvSpPr/>
          <p:nvPr/>
        </p:nvSpPr>
        <p:spPr>
          <a:xfrm>
            <a:off x="6650431" y="1967789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15" name="Shape 107"/>
          <p:cNvSpPr/>
          <p:nvPr/>
        </p:nvSpPr>
        <p:spPr>
          <a:xfrm>
            <a:off x="6650431" y="2033626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6650431" y="2098548"/>
            <a:ext cx="117043" cy="21946"/>
          </a:xfrm>
          <a:prstGeom prst="roundRect">
            <a:avLst>
              <a:gd name="adj" fmla="val 3333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117" name="Shape 109"/>
          <p:cNvSpPr/>
          <p:nvPr/>
        </p:nvSpPr>
        <p:spPr>
          <a:xfrm>
            <a:off x="6650431" y="2164385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18" name="Shape 110"/>
          <p:cNvSpPr/>
          <p:nvPr/>
        </p:nvSpPr>
        <p:spPr>
          <a:xfrm>
            <a:off x="6650431" y="2230222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19" name="Shape 111"/>
          <p:cNvSpPr/>
          <p:nvPr/>
        </p:nvSpPr>
        <p:spPr>
          <a:xfrm>
            <a:off x="6898234" y="1909267"/>
            <a:ext cx="203911" cy="422453"/>
          </a:xfrm>
          <a:prstGeom prst="roundRect">
            <a:avLst>
              <a:gd name="adj" fmla="val 7175"/>
            </a:avLst>
          </a:prstGeom>
          <a:solidFill>
            <a:srgbClr val="0B22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120" name="Shape 112"/>
          <p:cNvSpPr/>
          <p:nvPr/>
        </p:nvSpPr>
        <p:spPr>
          <a:xfrm>
            <a:off x="6942125" y="1967789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21" name="Shape 113"/>
          <p:cNvSpPr/>
          <p:nvPr/>
        </p:nvSpPr>
        <p:spPr>
          <a:xfrm>
            <a:off x="6942125" y="2033626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22" name="Shape 114"/>
          <p:cNvSpPr/>
          <p:nvPr/>
        </p:nvSpPr>
        <p:spPr>
          <a:xfrm>
            <a:off x="6942125" y="2098548"/>
            <a:ext cx="117043" cy="21946"/>
          </a:xfrm>
          <a:prstGeom prst="roundRect">
            <a:avLst>
              <a:gd name="adj" fmla="val 3333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123" name="Shape 115"/>
          <p:cNvSpPr/>
          <p:nvPr/>
        </p:nvSpPr>
        <p:spPr>
          <a:xfrm>
            <a:off x="6942125" y="2164385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24" name="Shape 116"/>
          <p:cNvSpPr/>
          <p:nvPr/>
        </p:nvSpPr>
        <p:spPr>
          <a:xfrm>
            <a:off x="6942125" y="2230222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25" name="Shape 117"/>
          <p:cNvSpPr/>
          <p:nvPr/>
        </p:nvSpPr>
        <p:spPr>
          <a:xfrm>
            <a:off x="7189927" y="1909267"/>
            <a:ext cx="203911" cy="422453"/>
          </a:xfrm>
          <a:prstGeom prst="roundRect">
            <a:avLst>
              <a:gd name="adj" fmla="val 7175"/>
            </a:avLst>
          </a:prstGeom>
          <a:solidFill>
            <a:srgbClr val="0B22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126" name="Shape 118"/>
          <p:cNvSpPr/>
          <p:nvPr/>
        </p:nvSpPr>
        <p:spPr>
          <a:xfrm>
            <a:off x="7232904" y="1967789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27" name="Shape 119"/>
          <p:cNvSpPr/>
          <p:nvPr/>
        </p:nvSpPr>
        <p:spPr>
          <a:xfrm>
            <a:off x="7232904" y="2033626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28" name="Shape 120"/>
          <p:cNvSpPr/>
          <p:nvPr/>
        </p:nvSpPr>
        <p:spPr>
          <a:xfrm>
            <a:off x="7232904" y="2098548"/>
            <a:ext cx="117043" cy="21946"/>
          </a:xfrm>
          <a:prstGeom prst="roundRect">
            <a:avLst>
              <a:gd name="adj" fmla="val 3333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129" name="Shape 121"/>
          <p:cNvSpPr/>
          <p:nvPr/>
        </p:nvSpPr>
        <p:spPr>
          <a:xfrm>
            <a:off x="7232904" y="2164385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30" name="Shape 122"/>
          <p:cNvSpPr/>
          <p:nvPr/>
        </p:nvSpPr>
        <p:spPr>
          <a:xfrm>
            <a:off x="7232904" y="2230222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31" name="Shape 123"/>
          <p:cNvSpPr/>
          <p:nvPr/>
        </p:nvSpPr>
        <p:spPr>
          <a:xfrm>
            <a:off x="7481621" y="1909267"/>
            <a:ext cx="203911" cy="422453"/>
          </a:xfrm>
          <a:prstGeom prst="roundRect">
            <a:avLst>
              <a:gd name="adj" fmla="val 7175"/>
            </a:avLst>
          </a:prstGeom>
          <a:solidFill>
            <a:srgbClr val="0B22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132" name="Shape 124"/>
          <p:cNvSpPr/>
          <p:nvPr/>
        </p:nvSpPr>
        <p:spPr>
          <a:xfrm>
            <a:off x="7524598" y="1967789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33" name="Shape 125"/>
          <p:cNvSpPr/>
          <p:nvPr/>
        </p:nvSpPr>
        <p:spPr>
          <a:xfrm>
            <a:off x="7524598" y="2033626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34" name="Shape 126"/>
          <p:cNvSpPr/>
          <p:nvPr/>
        </p:nvSpPr>
        <p:spPr>
          <a:xfrm>
            <a:off x="7524598" y="2098548"/>
            <a:ext cx="117043" cy="21946"/>
          </a:xfrm>
          <a:prstGeom prst="roundRect">
            <a:avLst>
              <a:gd name="adj" fmla="val 3333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135" name="Shape 127"/>
          <p:cNvSpPr/>
          <p:nvPr/>
        </p:nvSpPr>
        <p:spPr>
          <a:xfrm>
            <a:off x="7524598" y="2164385"/>
            <a:ext cx="117043" cy="21946"/>
          </a:xfrm>
          <a:prstGeom prst="roundRect">
            <a:avLst>
              <a:gd name="adj" fmla="val 3333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36" name="Shape 128"/>
          <p:cNvSpPr/>
          <p:nvPr/>
        </p:nvSpPr>
        <p:spPr>
          <a:xfrm>
            <a:off x="7524598" y="2230222"/>
            <a:ext cx="117043" cy="21946"/>
          </a:xfrm>
          <a:prstGeom prst="roundRect">
            <a:avLst>
              <a:gd name="adj" fmla="val 33333"/>
            </a:avLst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37" name="Shape 129"/>
          <p:cNvSpPr/>
          <p:nvPr/>
        </p:nvSpPr>
        <p:spPr>
          <a:xfrm>
            <a:off x="7801661" y="1749247"/>
            <a:ext cx="335585" cy="1829"/>
          </a:xfrm>
          <a:prstGeom prst="line">
            <a:avLst/>
          </a:prstGeom>
          <a:noFill/>
          <a:ln w="21869">
            <a:solidFill>
              <a:srgbClr val="65C7EF"/>
            </a:solidFill>
            <a:prstDash val="solid"/>
          </a:ln>
        </p:spPr>
      </p:sp>
      <p:sp>
        <p:nvSpPr>
          <p:cNvPr id="138" name="Shape 130"/>
          <p:cNvSpPr/>
          <p:nvPr/>
        </p:nvSpPr>
        <p:spPr>
          <a:xfrm>
            <a:off x="8079638" y="1676095"/>
            <a:ext cx="218542" cy="145390"/>
          </a:xfrm>
          <a:prstGeom prst="chevron">
            <a:avLst/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39" name="Shape 131"/>
          <p:cNvSpPr/>
          <p:nvPr/>
        </p:nvSpPr>
        <p:spPr>
          <a:xfrm>
            <a:off x="8137246" y="1428293"/>
            <a:ext cx="524866" cy="918058"/>
          </a:xfrm>
          <a:prstGeom prst="roundRect">
            <a:avLst>
              <a:gd name="adj" fmla="val 19512"/>
            </a:avLst>
          </a:prstGeom>
          <a:solidFill>
            <a:srgbClr val="46350F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140" name="Text 132"/>
          <p:cNvSpPr/>
          <p:nvPr/>
        </p:nvSpPr>
        <p:spPr>
          <a:xfrm>
            <a:off x="8239658" y="1646834"/>
            <a:ext cx="350215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000" dirty="0"/>
          </a:p>
        </p:txBody>
      </p:sp>
      <p:sp>
        <p:nvSpPr>
          <p:cNvPr id="141" name="Text 133"/>
          <p:cNvSpPr/>
          <p:nvPr/>
        </p:nvSpPr>
        <p:spPr>
          <a:xfrm>
            <a:off x="8239658" y="1837030"/>
            <a:ext cx="35021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 C</a:t>
            </a:r>
            <a:endParaRPr lang="en-US" sz="94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bar</a:t>
            </a:r>
            <a:endParaRPr lang="en-US" sz="940" dirty="0"/>
          </a:p>
        </p:txBody>
      </p:sp>
      <p:sp>
        <p:nvSpPr>
          <p:cNvPr id="142" name="Text 134"/>
          <p:cNvSpPr/>
          <p:nvPr/>
        </p:nvSpPr>
        <p:spPr>
          <a:xfrm>
            <a:off x="8057693" y="1282903"/>
            <a:ext cx="693115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Header</a:t>
            </a:r>
            <a:endParaRPr lang="en-US" sz="800" dirty="0"/>
          </a:p>
        </p:txBody>
      </p:sp>
      <p:sp>
        <p:nvSpPr>
          <p:cNvPr id="143" name="Shape 135"/>
          <p:cNvSpPr/>
          <p:nvPr/>
        </p:nvSpPr>
        <p:spPr>
          <a:xfrm>
            <a:off x="8662111" y="1822399"/>
            <a:ext cx="306324" cy="1829"/>
          </a:xfrm>
          <a:prstGeom prst="line">
            <a:avLst/>
          </a:prstGeom>
          <a:noFill/>
          <a:ln w="21869">
            <a:solidFill>
              <a:srgbClr val="65C7EF"/>
            </a:solidFill>
            <a:prstDash val="solid"/>
          </a:ln>
        </p:spPr>
      </p:sp>
      <p:sp>
        <p:nvSpPr>
          <p:cNvPr id="144" name="Shape 136"/>
          <p:cNvSpPr/>
          <p:nvPr/>
        </p:nvSpPr>
        <p:spPr>
          <a:xfrm>
            <a:off x="8925458" y="1749247"/>
            <a:ext cx="203911" cy="145390"/>
          </a:xfrm>
          <a:prstGeom prst="chevron">
            <a:avLst/>
          </a:prstGeom>
          <a:solidFill>
            <a:srgbClr val="65C7EF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45" name="Shape 137"/>
          <p:cNvSpPr/>
          <p:nvPr/>
        </p:nvSpPr>
        <p:spPr>
          <a:xfrm>
            <a:off x="8953805" y="1406347"/>
            <a:ext cx="598018" cy="655625"/>
          </a:xfrm>
          <a:prstGeom prst="roundRect">
            <a:avLst>
              <a:gd name="adj" fmla="val 7339"/>
            </a:avLst>
          </a:prstGeom>
          <a:solidFill>
            <a:srgbClr val="102D4E"/>
          </a:solidFill>
          <a:ln w="7290">
            <a:solidFill>
              <a:srgbClr val="65C7EF"/>
            </a:solidFill>
            <a:prstDash val="solid"/>
          </a:ln>
        </p:spPr>
      </p:sp>
      <p:sp>
        <p:nvSpPr>
          <p:cNvPr id="146" name="Text 138"/>
          <p:cNvSpPr/>
          <p:nvPr/>
        </p:nvSpPr>
        <p:spPr>
          <a:xfrm>
            <a:off x="8881567" y="1195121"/>
            <a:ext cx="801929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Tank</a:t>
            </a:r>
            <a:endParaRPr lang="en-US" sz="800" dirty="0"/>
          </a:p>
        </p:txBody>
      </p:sp>
      <p:sp>
        <p:nvSpPr>
          <p:cNvPr id="147" name="Shape 139"/>
          <p:cNvSpPr/>
          <p:nvPr/>
        </p:nvSpPr>
        <p:spPr>
          <a:xfrm>
            <a:off x="9056218" y="1581912"/>
            <a:ext cx="320954" cy="1829"/>
          </a:xfrm>
          <a:prstGeom prst="line">
            <a:avLst/>
          </a:prstGeom>
          <a:noFill/>
          <a:ln w="14580">
            <a:solidFill>
              <a:srgbClr val="65C7EF"/>
            </a:solidFill>
            <a:prstDash val="solid"/>
          </a:ln>
        </p:spPr>
      </p:sp>
      <p:sp>
        <p:nvSpPr>
          <p:cNvPr id="148" name="Shape 140"/>
          <p:cNvSpPr/>
          <p:nvPr/>
        </p:nvSpPr>
        <p:spPr>
          <a:xfrm>
            <a:off x="9056218" y="1668780"/>
            <a:ext cx="233172" cy="1829"/>
          </a:xfrm>
          <a:prstGeom prst="line">
            <a:avLst/>
          </a:prstGeom>
          <a:noFill/>
          <a:ln w="14580">
            <a:solidFill>
              <a:srgbClr val="65C7EF"/>
            </a:solidFill>
            <a:prstDash val="solid"/>
          </a:ln>
        </p:spPr>
      </p:sp>
      <p:sp>
        <p:nvSpPr>
          <p:cNvPr id="149" name="Text 141"/>
          <p:cNvSpPr/>
          <p:nvPr/>
        </p:nvSpPr>
        <p:spPr>
          <a:xfrm>
            <a:off x="9056218" y="1793138"/>
            <a:ext cx="379476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68%</a:t>
            </a:r>
            <a:endParaRPr lang="en-US" sz="7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1.0 bar</a:t>
            </a:r>
            <a:endParaRPr lang="en-US" sz="740" dirty="0"/>
          </a:p>
        </p:txBody>
      </p:sp>
      <p:sp>
        <p:nvSpPr>
          <p:cNvPr id="150" name="Shape 142"/>
          <p:cNvSpPr/>
          <p:nvPr/>
        </p:nvSpPr>
        <p:spPr>
          <a:xfrm>
            <a:off x="3631082" y="2696566"/>
            <a:ext cx="5672938" cy="1829"/>
          </a:xfrm>
          <a:prstGeom prst="line">
            <a:avLst/>
          </a:prstGeom>
          <a:noFill/>
          <a:ln w="11671">
            <a:solidFill>
              <a:srgbClr val="A8D642"/>
            </a:solidFill>
            <a:prstDash val="dash"/>
          </a:ln>
        </p:spPr>
      </p:sp>
      <p:sp>
        <p:nvSpPr>
          <p:cNvPr id="151" name="Shape 143"/>
          <p:cNvSpPr/>
          <p:nvPr/>
        </p:nvSpPr>
        <p:spPr>
          <a:xfrm>
            <a:off x="9260129" y="2055571"/>
            <a:ext cx="1829" cy="640994"/>
          </a:xfrm>
          <a:prstGeom prst="line">
            <a:avLst/>
          </a:prstGeom>
          <a:noFill/>
          <a:ln w="11671">
            <a:solidFill>
              <a:srgbClr val="A8D642"/>
            </a:solidFill>
            <a:prstDash val="dash"/>
          </a:ln>
        </p:spPr>
      </p:sp>
      <p:sp>
        <p:nvSpPr>
          <p:cNvPr id="152" name="Shape 144"/>
          <p:cNvSpPr/>
          <p:nvPr/>
        </p:nvSpPr>
        <p:spPr>
          <a:xfrm>
            <a:off x="8399678" y="2353666"/>
            <a:ext cx="1829" cy="342900"/>
          </a:xfrm>
          <a:prstGeom prst="line">
            <a:avLst/>
          </a:prstGeom>
          <a:noFill/>
          <a:ln w="11671">
            <a:solidFill>
              <a:srgbClr val="A8D642"/>
            </a:solidFill>
            <a:prstDash val="dash"/>
          </a:ln>
        </p:spPr>
      </p:sp>
      <p:sp>
        <p:nvSpPr>
          <p:cNvPr id="153" name="Shape 145"/>
          <p:cNvSpPr/>
          <p:nvPr/>
        </p:nvSpPr>
        <p:spPr>
          <a:xfrm>
            <a:off x="7160666" y="2478024"/>
            <a:ext cx="1829" cy="218542"/>
          </a:xfrm>
          <a:prstGeom prst="line">
            <a:avLst/>
          </a:prstGeom>
          <a:noFill/>
          <a:ln w="11671">
            <a:solidFill>
              <a:srgbClr val="A8D642"/>
            </a:solidFill>
            <a:prstDash val="dash"/>
          </a:ln>
        </p:spPr>
      </p:sp>
      <p:sp>
        <p:nvSpPr>
          <p:cNvPr id="154" name="Shape 146"/>
          <p:cNvSpPr/>
          <p:nvPr/>
        </p:nvSpPr>
        <p:spPr>
          <a:xfrm>
            <a:off x="4885639" y="2346350"/>
            <a:ext cx="1829" cy="350215"/>
          </a:xfrm>
          <a:prstGeom prst="line">
            <a:avLst/>
          </a:prstGeom>
          <a:noFill/>
          <a:ln w="11671">
            <a:solidFill>
              <a:srgbClr val="A8D642"/>
            </a:solidFill>
            <a:prstDash val="dash"/>
          </a:ln>
        </p:spPr>
      </p:sp>
      <p:sp>
        <p:nvSpPr>
          <p:cNvPr id="155" name="Shape 147"/>
          <p:cNvSpPr/>
          <p:nvPr/>
        </p:nvSpPr>
        <p:spPr>
          <a:xfrm>
            <a:off x="5724144" y="2747772"/>
            <a:ext cx="860450" cy="189281"/>
          </a:xfrm>
          <a:prstGeom prst="roundRect">
            <a:avLst>
              <a:gd name="adj" fmla="val 15459"/>
            </a:avLst>
          </a:prstGeom>
          <a:solidFill>
            <a:srgbClr val="10340E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156" name="Text 148"/>
          <p:cNvSpPr/>
          <p:nvPr/>
        </p:nvSpPr>
        <p:spPr>
          <a:xfrm>
            <a:off x="5797296" y="2777033"/>
            <a:ext cx="71414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 / DCIM</a:t>
            </a:r>
            <a:endParaRPr lang="en-US" sz="1000" dirty="0"/>
          </a:p>
        </p:txBody>
      </p:sp>
      <p:sp>
        <p:nvSpPr>
          <p:cNvPr id="157" name="Text 149"/>
          <p:cNvSpPr/>
          <p:nvPr/>
        </p:nvSpPr>
        <p:spPr>
          <a:xfrm>
            <a:off x="6678778" y="2784348"/>
            <a:ext cx="1603858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Control &amp; Alerts</a:t>
            </a:r>
            <a:endParaRPr lang="en-US" sz="860" dirty="0"/>
          </a:p>
        </p:txBody>
      </p:sp>
      <p:sp>
        <p:nvSpPr>
          <p:cNvPr id="158" name="Shape 150"/>
          <p:cNvSpPr/>
          <p:nvPr/>
        </p:nvSpPr>
        <p:spPr>
          <a:xfrm>
            <a:off x="102413" y="3017520"/>
            <a:ext cx="2975458" cy="1749247"/>
          </a:xfrm>
          <a:prstGeom prst="roundRect">
            <a:avLst>
              <a:gd name="adj" fmla="val 3346"/>
            </a:avLst>
          </a:prstGeom>
          <a:solidFill>
            <a:srgbClr val="071A2C">
              <a:alpha val="94000"/>
            </a:srgbClr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159" name="Shape 151"/>
          <p:cNvSpPr/>
          <p:nvPr/>
        </p:nvSpPr>
        <p:spPr>
          <a:xfrm>
            <a:off x="181966" y="3104388"/>
            <a:ext cx="233172" cy="233172"/>
          </a:xfrm>
          <a:prstGeom prst="ellipse">
            <a:avLst/>
          </a:prstGeom>
          <a:solidFill>
            <a:srgbClr val="20D6F0"/>
          </a:solidFill>
          <a:ln w="7290">
            <a:solidFill>
              <a:srgbClr val="20D6F0"/>
            </a:solidFill>
            <a:prstDash val="solid"/>
          </a:ln>
        </p:spPr>
      </p:sp>
      <p:sp>
        <p:nvSpPr>
          <p:cNvPr id="160" name="Text 152"/>
          <p:cNvSpPr/>
          <p:nvPr/>
        </p:nvSpPr>
        <p:spPr>
          <a:xfrm>
            <a:off x="181966" y="3104388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1" name="Text 153"/>
          <p:cNvSpPr/>
          <p:nvPr/>
        </p:nvSpPr>
        <p:spPr>
          <a:xfrm>
            <a:off x="473659" y="3089758"/>
            <a:ext cx="1786738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&amp; Chiller Loop</a:t>
            </a:r>
            <a:endParaRPr lang="en-US" sz="1700" dirty="0"/>
          </a:p>
        </p:txBody>
      </p:sp>
      <p:sp>
        <p:nvSpPr>
          <p:cNvPr id="162" name="Text 154"/>
          <p:cNvSpPr/>
          <p:nvPr/>
        </p:nvSpPr>
        <p:spPr>
          <a:xfrm>
            <a:off x="473659" y="3308299"/>
            <a:ext cx="182331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loop stable and efficient.</a:t>
            </a:r>
            <a:endParaRPr lang="en-US" sz="880" dirty="0"/>
          </a:p>
        </p:txBody>
      </p:sp>
      <p:sp>
        <p:nvSpPr>
          <p:cNvPr id="163" name="Text 155"/>
          <p:cNvSpPr/>
          <p:nvPr/>
        </p:nvSpPr>
        <p:spPr>
          <a:xfrm>
            <a:off x="247802" y="3483864"/>
            <a:ext cx="656539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KPIs</a:t>
            </a:r>
            <a:endParaRPr lang="en-US" sz="900" dirty="0"/>
          </a:p>
        </p:txBody>
      </p:sp>
      <p:sp>
        <p:nvSpPr>
          <p:cNvPr id="164" name="Text 156"/>
          <p:cNvSpPr/>
          <p:nvPr/>
        </p:nvSpPr>
        <p:spPr>
          <a:xfrm>
            <a:off x="1968703" y="3483864"/>
            <a:ext cx="36484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165" name="Text 157"/>
          <p:cNvSpPr/>
          <p:nvPr/>
        </p:nvSpPr>
        <p:spPr>
          <a:xfrm>
            <a:off x="2493569" y="3483864"/>
            <a:ext cx="36484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endParaRPr lang="en-US" sz="800" dirty="0"/>
          </a:p>
        </p:txBody>
      </p:sp>
      <p:sp>
        <p:nvSpPr>
          <p:cNvPr id="166" name="Shape 158"/>
          <p:cNvSpPr/>
          <p:nvPr/>
        </p:nvSpPr>
        <p:spPr>
          <a:xfrm>
            <a:off x="247802" y="3607308"/>
            <a:ext cx="2625242" cy="1829"/>
          </a:xfrm>
          <a:prstGeom prst="line">
            <a:avLst/>
          </a:prstGeom>
          <a:noFill/>
          <a:ln w="7290">
            <a:solidFill>
              <a:srgbClr val="2E5577"/>
            </a:solidFill>
            <a:prstDash val="solid"/>
          </a:ln>
        </p:spPr>
      </p:sp>
      <p:sp>
        <p:nvSpPr>
          <p:cNvPr id="167" name="Text 159"/>
          <p:cNvSpPr/>
          <p:nvPr/>
        </p:nvSpPr>
        <p:spPr>
          <a:xfrm>
            <a:off x="247802" y="3658514"/>
            <a:ext cx="875081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Temp</a:t>
            </a:r>
            <a:endParaRPr lang="en-US" sz="1000" dirty="0"/>
          </a:p>
        </p:txBody>
      </p:sp>
      <p:sp>
        <p:nvSpPr>
          <p:cNvPr id="168" name="Text 160"/>
          <p:cNvSpPr/>
          <p:nvPr/>
        </p:nvSpPr>
        <p:spPr>
          <a:xfrm>
            <a:off x="1254557" y="3658514"/>
            <a:ext cx="51023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C</a:t>
            </a:r>
            <a:endParaRPr lang="en-US" sz="1000" dirty="0"/>
          </a:p>
        </p:txBody>
      </p:sp>
      <p:sp>
        <p:nvSpPr>
          <p:cNvPr id="169" name="Text 161"/>
          <p:cNvSpPr/>
          <p:nvPr/>
        </p:nvSpPr>
        <p:spPr>
          <a:xfrm>
            <a:off x="1983334" y="3658514"/>
            <a:ext cx="42336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000" dirty="0"/>
          </a:p>
        </p:txBody>
      </p:sp>
      <p:sp>
        <p:nvSpPr>
          <p:cNvPr id="170" name="Text 162"/>
          <p:cNvSpPr/>
          <p:nvPr/>
        </p:nvSpPr>
        <p:spPr>
          <a:xfrm>
            <a:off x="2617927" y="3658514"/>
            <a:ext cx="437083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0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</a:t>
            </a:r>
            <a:endParaRPr lang="en-US" sz="1000" dirty="0"/>
          </a:p>
        </p:txBody>
      </p:sp>
      <p:sp>
        <p:nvSpPr>
          <p:cNvPr id="171" name="Text 163"/>
          <p:cNvSpPr/>
          <p:nvPr/>
        </p:nvSpPr>
        <p:spPr>
          <a:xfrm>
            <a:off x="247802" y="3811219"/>
            <a:ext cx="875081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Temp</a:t>
            </a:r>
            <a:endParaRPr lang="en-US" sz="1000" dirty="0"/>
          </a:p>
        </p:txBody>
      </p:sp>
      <p:sp>
        <p:nvSpPr>
          <p:cNvPr id="172" name="Text 164"/>
          <p:cNvSpPr/>
          <p:nvPr/>
        </p:nvSpPr>
        <p:spPr>
          <a:xfrm>
            <a:off x="1254557" y="3811219"/>
            <a:ext cx="51023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 C</a:t>
            </a:r>
            <a:endParaRPr lang="en-US" sz="1000" dirty="0"/>
          </a:p>
        </p:txBody>
      </p:sp>
      <p:sp>
        <p:nvSpPr>
          <p:cNvPr id="173" name="Text 165"/>
          <p:cNvSpPr/>
          <p:nvPr/>
        </p:nvSpPr>
        <p:spPr>
          <a:xfrm>
            <a:off x="1983334" y="3811219"/>
            <a:ext cx="42336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</a:t>
            </a:r>
            <a:endParaRPr lang="en-US" sz="1000" dirty="0"/>
          </a:p>
        </p:txBody>
      </p:sp>
      <p:sp>
        <p:nvSpPr>
          <p:cNvPr id="174" name="Text 166"/>
          <p:cNvSpPr/>
          <p:nvPr/>
        </p:nvSpPr>
        <p:spPr>
          <a:xfrm>
            <a:off x="2617927" y="3811219"/>
            <a:ext cx="437083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-0.6</a:t>
            </a:r>
            <a:endParaRPr lang="en-US" sz="1000" dirty="0"/>
          </a:p>
        </p:txBody>
      </p:sp>
      <p:sp>
        <p:nvSpPr>
          <p:cNvPr id="175" name="Text 167"/>
          <p:cNvSpPr/>
          <p:nvPr/>
        </p:nvSpPr>
        <p:spPr>
          <a:xfrm>
            <a:off x="247802" y="3964838"/>
            <a:ext cx="875081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T</a:t>
            </a:r>
            <a:endParaRPr lang="en-US" sz="1000" dirty="0"/>
          </a:p>
        </p:txBody>
      </p:sp>
      <p:sp>
        <p:nvSpPr>
          <p:cNvPr id="176" name="Text 168"/>
          <p:cNvSpPr/>
          <p:nvPr/>
        </p:nvSpPr>
        <p:spPr>
          <a:xfrm>
            <a:off x="1254557" y="3964838"/>
            <a:ext cx="51023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 C</a:t>
            </a:r>
            <a:endParaRPr lang="en-US" sz="1000" dirty="0"/>
          </a:p>
        </p:txBody>
      </p:sp>
      <p:sp>
        <p:nvSpPr>
          <p:cNvPr id="177" name="Text 169"/>
          <p:cNvSpPr/>
          <p:nvPr/>
        </p:nvSpPr>
        <p:spPr>
          <a:xfrm>
            <a:off x="1983334" y="3964838"/>
            <a:ext cx="42336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</a:t>
            </a:r>
            <a:endParaRPr lang="en-US" sz="1000" dirty="0"/>
          </a:p>
        </p:txBody>
      </p:sp>
      <p:sp>
        <p:nvSpPr>
          <p:cNvPr id="178" name="Text 170"/>
          <p:cNvSpPr/>
          <p:nvPr/>
        </p:nvSpPr>
        <p:spPr>
          <a:xfrm>
            <a:off x="2617927" y="3964838"/>
            <a:ext cx="437083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1000" dirty="0"/>
          </a:p>
        </p:txBody>
      </p:sp>
      <p:sp>
        <p:nvSpPr>
          <p:cNvPr id="179" name="Text 171"/>
          <p:cNvSpPr/>
          <p:nvPr/>
        </p:nvSpPr>
        <p:spPr>
          <a:xfrm>
            <a:off x="247802" y="4117543"/>
            <a:ext cx="875081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Rate</a:t>
            </a:r>
            <a:endParaRPr lang="en-US" sz="1000" dirty="0"/>
          </a:p>
        </p:txBody>
      </p:sp>
      <p:sp>
        <p:nvSpPr>
          <p:cNvPr id="180" name="Text 172"/>
          <p:cNvSpPr/>
          <p:nvPr/>
        </p:nvSpPr>
        <p:spPr>
          <a:xfrm>
            <a:off x="1254557" y="4117543"/>
            <a:ext cx="51023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443 L/s</a:t>
            </a:r>
            <a:endParaRPr lang="en-US" sz="1000" dirty="0"/>
          </a:p>
        </p:txBody>
      </p:sp>
      <p:sp>
        <p:nvSpPr>
          <p:cNvPr id="181" name="Text 173"/>
          <p:cNvSpPr/>
          <p:nvPr/>
        </p:nvSpPr>
        <p:spPr>
          <a:xfrm>
            <a:off x="1983334" y="4117543"/>
            <a:ext cx="42336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</a:t>
            </a:r>
            <a:endParaRPr lang="en-US" sz="1000" dirty="0"/>
          </a:p>
        </p:txBody>
      </p:sp>
      <p:sp>
        <p:nvSpPr>
          <p:cNvPr id="182" name="Text 174"/>
          <p:cNvSpPr/>
          <p:nvPr/>
        </p:nvSpPr>
        <p:spPr>
          <a:xfrm>
            <a:off x="2617927" y="4117543"/>
            <a:ext cx="437083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</a:t>
            </a:r>
            <a:endParaRPr lang="en-US" sz="1000" dirty="0"/>
          </a:p>
        </p:txBody>
      </p:sp>
      <p:sp>
        <p:nvSpPr>
          <p:cNvPr id="183" name="Text 175"/>
          <p:cNvSpPr/>
          <p:nvPr/>
        </p:nvSpPr>
        <p:spPr>
          <a:xfrm>
            <a:off x="247802" y="4271162"/>
            <a:ext cx="875081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</a:t>
            </a:r>
            <a:endParaRPr lang="en-US" sz="1000" dirty="0"/>
          </a:p>
        </p:txBody>
      </p:sp>
      <p:sp>
        <p:nvSpPr>
          <p:cNvPr id="184" name="Text 176"/>
          <p:cNvSpPr/>
          <p:nvPr/>
        </p:nvSpPr>
        <p:spPr>
          <a:xfrm>
            <a:off x="1254557" y="4271162"/>
            <a:ext cx="510235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bar</a:t>
            </a:r>
            <a:endParaRPr lang="en-US" sz="1000" dirty="0"/>
          </a:p>
        </p:txBody>
      </p:sp>
      <p:sp>
        <p:nvSpPr>
          <p:cNvPr id="185" name="Text 177"/>
          <p:cNvSpPr/>
          <p:nvPr/>
        </p:nvSpPr>
        <p:spPr>
          <a:xfrm>
            <a:off x="1983334" y="4271162"/>
            <a:ext cx="42336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000" dirty="0"/>
          </a:p>
        </p:txBody>
      </p:sp>
      <p:sp>
        <p:nvSpPr>
          <p:cNvPr id="186" name="Text 178"/>
          <p:cNvSpPr/>
          <p:nvPr/>
        </p:nvSpPr>
        <p:spPr>
          <a:xfrm>
            <a:off x="2617927" y="4271162"/>
            <a:ext cx="437083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</a:t>
            </a:r>
            <a:endParaRPr lang="en-US" sz="1000" dirty="0"/>
          </a:p>
        </p:txBody>
      </p:sp>
      <p:sp>
        <p:nvSpPr>
          <p:cNvPr id="187" name="Shape 179"/>
          <p:cNvSpPr/>
          <p:nvPr/>
        </p:nvSpPr>
        <p:spPr>
          <a:xfrm>
            <a:off x="247802" y="4372661"/>
            <a:ext cx="2625242" cy="1829"/>
          </a:xfrm>
          <a:prstGeom prst="line">
            <a:avLst/>
          </a:prstGeom>
          <a:noFill/>
          <a:ln w="7290">
            <a:solidFill>
              <a:srgbClr val="2E5577"/>
            </a:solidFill>
            <a:prstDash val="solid"/>
          </a:ln>
        </p:spPr>
      </p:sp>
      <p:sp>
        <p:nvSpPr>
          <p:cNvPr id="188" name="Text 180"/>
          <p:cNvSpPr/>
          <p:nvPr/>
        </p:nvSpPr>
        <p:spPr>
          <a:xfrm>
            <a:off x="247802" y="4445813"/>
            <a:ext cx="875081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 Efficiency</a:t>
            </a:r>
            <a:endParaRPr lang="en-US" sz="1000" dirty="0"/>
          </a:p>
        </p:txBody>
      </p:sp>
      <p:sp>
        <p:nvSpPr>
          <p:cNvPr id="189" name="Text 181"/>
          <p:cNvSpPr/>
          <p:nvPr/>
        </p:nvSpPr>
        <p:spPr>
          <a:xfrm>
            <a:off x="247802" y="4591202"/>
            <a:ext cx="65653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 (Avg)</a:t>
            </a:r>
            <a:endParaRPr lang="en-US" sz="800" dirty="0"/>
          </a:p>
        </p:txBody>
      </p:sp>
      <p:sp>
        <p:nvSpPr>
          <p:cNvPr id="190" name="Text 182"/>
          <p:cNvSpPr/>
          <p:nvPr/>
        </p:nvSpPr>
        <p:spPr>
          <a:xfrm>
            <a:off x="1108253" y="4416552"/>
            <a:ext cx="16002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65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650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65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650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65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650" dirty="0"/>
          </a:p>
        </p:txBody>
      </p:sp>
      <p:sp>
        <p:nvSpPr>
          <p:cNvPr id="191" name="Shape 183"/>
          <p:cNvSpPr/>
          <p:nvPr/>
        </p:nvSpPr>
        <p:spPr>
          <a:xfrm>
            <a:off x="1326794" y="4558284"/>
            <a:ext cx="104242" cy="37490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192" name="Shape 184"/>
          <p:cNvSpPr/>
          <p:nvPr/>
        </p:nvSpPr>
        <p:spPr>
          <a:xfrm>
            <a:off x="1431036" y="4580230"/>
            <a:ext cx="104242" cy="15545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193" name="Shape 185"/>
          <p:cNvSpPr/>
          <p:nvPr/>
        </p:nvSpPr>
        <p:spPr>
          <a:xfrm>
            <a:off x="1535278" y="4580230"/>
            <a:ext cx="104242" cy="37490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194" name="Shape 186"/>
          <p:cNvSpPr/>
          <p:nvPr/>
        </p:nvSpPr>
        <p:spPr>
          <a:xfrm>
            <a:off x="1639519" y="4591202"/>
            <a:ext cx="104242" cy="26518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195" name="Shape 187"/>
          <p:cNvSpPr/>
          <p:nvPr/>
        </p:nvSpPr>
        <p:spPr>
          <a:xfrm>
            <a:off x="1743761" y="4565599"/>
            <a:ext cx="104242" cy="26518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196" name="Shape 188"/>
          <p:cNvSpPr/>
          <p:nvPr/>
        </p:nvSpPr>
        <p:spPr>
          <a:xfrm>
            <a:off x="1848002" y="4565599"/>
            <a:ext cx="104242" cy="21946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197" name="Shape 189"/>
          <p:cNvSpPr/>
          <p:nvPr/>
        </p:nvSpPr>
        <p:spPr>
          <a:xfrm>
            <a:off x="1952244" y="4529938"/>
            <a:ext cx="104242" cy="56693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198" name="Shape 190"/>
          <p:cNvSpPr/>
          <p:nvPr/>
        </p:nvSpPr>
        <p:spPr>
          <a:xfrm>
            <a:off x="2056486" y="4529938"/>
            <a:ext cx="104242" cy="17374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199" name="Shape 191"/>
          <p:cNvSpPr/>
          <p:nvPr/>
        </p:nvSpPr>
        <p:spPr>
          <a:xfrm>
            <a:off x="2160727" y="4547311"/>
            <a:ext cx="104242" cy="32918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200" name="Shape 192"/>
          <p:cNvSpPr/>
          <p:nvPr/>
        </p:nvSpPr>
        <p:spPr>
          <a:xfrm>
            <a:off x="2264969" y="4561027"/>
            <a:ext cx="104242" cy="20117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201" name="Shape 193"/>
          <p:cNvSpPr/>
          <p:nvPr/>
        </p:nvSpPr>
        <p:spPr>
          <a:xfrm>
            <a:off x="2369210" y="4521708"/>
            <a:ext cx="104242" cy="39319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202" name="Shape 194"/>
          <p:cNvSpPr/>
          <p:nvPr/>
        </p:nvSpPr>
        <p:spPr>
          <a:xfrm>
            <a:off x="2472538" y="4521708"/>
            <a:ext cx="104242" cy="12802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203" name="Shape 195"/>
          <p:cNvSpPr/>
          <p:nvPr/>
        </p:nvSpPr>
        <p:spPr>
          <a:xfrm>
            <a:off x="2576779" y="4534510"/>
            <a:ext cx="104242" cy="34747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204" name="Shape 196"/>
          <p:cNvSpPr/>
          <p:nvPr/>
        </p:nvSpPr>
        <p:spPr>
          <a:xfrm>
            <a:off x="2681021" y="4551883"/>
            <a:ext cx="104242" cy="17374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205" name="Text 197"/>
          <p:cNvSpPr/>
          <p:nvPr/>
        </p:nvSpPr>
        <p:spPr>
          <a:xfrm>
            <a:off x="1282903" y="4642409"/>
            <a:ext cx="160385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        06:00        12:00        18:00        24:00</a:t>
            </a:r>
            <a:endParaRPr lang="en-US" sz="570" dirty="0"/>
          </a:p>
        </p:txBody>
      </p:sp>
      <p:sp>
        <p:nvSpPr>
          <p:cNvPr id="206" name="Shape 198"/>
          <p:cNvSpPr/>
          <p:nvPr/>
        </p:nvSpPr>
        <p:spPr>
          <a:xfrm>
            <a:off x="3120847" y="3017520"/>
            <a:ext cx="6562649" cy="1749247"/>
          </a:xfrm>
          <a:prstGeom prst="roundRect">
            <a:avLst>
              <a:gd name="adj" fmla="val 3346"/>
            </a:avLst>
          </a:prstGeom>
          <a:solidFill>
            <a:srgbClr val="071A2C">
              <a:alpha val="94000"/>
            </a:srgbClr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207" name="Shape 199"/>
          <p:cNvSpPr/>
          <p:nvPr/>
        </p:nvSpPr>
        <p:spPr>
          <a:xfrm>
            <a:off x="3193999" y="3104388"/>
            <a:ext cx="233172" cy="233172"/>
          </a:xfrm>
          <a:prstGeom prst="ellipse">
            <a:avLst/>
          </a:prstGeom>
          <a:solidFill>
            <a:srgbClr val="20D6F0"/>
          </a:solidFill>
          <a:ln w="7290">
            <a:solidFill>
              <a:srgbClr val="20D6F0"/>
            </a:solidFill>
            <a:prstDash val="solid"/>
          </a:ln>
        </p:spPr>
      </p:sp>
      <p:sp>
        <p:nvSpPr>
          <p:cNvPr id="208" name="Text 200"/>
          <p:cNvSpPr/>
          <p:nvPr/>
        </p:nvSpPr>
        <p:spPr>
          <a:xfrm>
            <a:off x="3193999" y="3104388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9" name="Text 201"/>
          <p:cNvSpPr/>
          <p:nvPr/>
        </p:nvSpPr>
        <p:spPr>
          <a:xfrm>
            <a:off x="3485693" y="3089758"/>
            <a:ext cx="1312164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 Heat Load</a:t>
            </a:r>
            <a:endParaRPr lang="en-US" sz="1700" dirty="0"/>
          </a:p>
        </p:txBody>
      </p:sp>
      <p:sp>
        <p:nvSpPr>
          <p:cNvPr id="210" name="Text 202"/>
          <p:cNvSpPr/>
          <p:nvPr/>
        </p:nvSpPr>
        <p:spPr>
          <a:xfrm>
            <a:off x="4623206" y="3148279"/>
            <a:ext cx="1895551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heat where it is generated.</a:t>
            </a:r>
            <a:endParaRPr lang="en-US" sz="860" dirty="0"/>
          </a:p>
        </p:txBody>
      </p:sp>
      <p:sp>
        <p:nvSpPr>
          <p:cNvPr id="211" name="Shape 203"/>
          <p:cNvSpPr/>
          <p:nvPr/>
        </p:nvSpPr>
        <p:spPr>
          <a:xfrm>
            <a:off x="3193999" y="3366821"/>
            <a:ext cx="918972" cy="1829"/>
          </a:xfrm>
          <a:prstGeom prst="line">
            <a:avLst/>
          </a:prstGeom>
          <a:noFill/>
          <a:ln w="7290">
            <a:solidFill>
              <a:srgbClr val="2E5577"/>
            </a:solidFill>
            <a:prstDash val="solid"/>
          </a:ln>
        </p:spPr>
      </p:sp>
      <p:sp>
        <p:nvSpPr>
          <p:cNvPr id="212" name="Text 204"/>
          <p:cNvSpPr/>
          <p:nvPr/>
        </p:nvSpPr>
        <p:spPr>
          <a:xfrm>
            <a:off x="4177894" y="3308299"/>
            <a:ext cx="1823314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5C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Map (Top View)</a:t>
            </a:r>
            <a:endParaRPr lang="en-US" sz="880" dirty="0"/>
          </a:p>
        </p:txBody>
      </p:sp>
      <p:sp>
        <p:nvSpPr>
          <p:cNvPr id="213" name="Text 205"/>
          <p:cNvSpPr/>
          <p:nvPr/>
        </p:nvSpPr>
        <p:spPr>
          <a:xfrm>
            <a:off x="3514954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80" dirty="0"/>
          </a:p>
        </p:txBody>
      </p:sp>
      <p:sp>
        <p:nvSpPr>
          <p:cNvPr id="214" name="Text 206"/>
          <p:cNvSpPr/>
          <p:nvPr/>
        </p:nvSpPr>
        <p:spPr>
          <a:xfrm>
            <a:off x="3704234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80" dirty="0"/>
          </a:p>
        </p:txBody>
      </p:sp>
      <p:sp>
        <p:nvSpPr>
          <p:cNvPr id="215" name="Text 207"/>
          <p:cNvSpPr/>
          <p:nvPr/>
        </p:nvSpPr>
        <p:spPr>
          <a:xfrm>
            <a:off x="3893515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80" dirty="0"/>
          </a:p>
        </p:txBody>
      </p:sp>
      <p:sp>
        <p:nvSpPr>
          <p:cNvPr id="216" name="Text 208"/>
          <p:cNvSpPr/>
          <p:nvPr/>
        </p:nvSpPr>
        <p:spPr>
          <a:xfrm>
            <a:off x="4083710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80" dirty="0"/>
          </a:p>
        </p:txBody>
      </p:sp>
      <p:sp>
        <p:nvSpPr>
          <p:cNvPr id="217" name="Text 209"/>
          <p:cNvSpPr/>
          <p:nvPr/>
        </p:nvSpPr>
        <p:spPr>
          <a:xfrm>
            <a:off x="4272991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80" dirty="0"/>
          </a:p>
        </p:txBody>
      </p:sp>
      <p:sp>
        <p:nvSpPr>
          <p:cNvPr id="218" name="Text 210"/>
          <p:cNvSpPr/>
          <p:nvPr/>
        </p:nvSpPr>
        <p:spPr>
          <a:xfrm>
            <a:off x="4462272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80" dirty="0"/>
          </a:p>
        </p:txBody>
      </p:sp>
      <p:sp>
        <p:nvSpPr>
          <p:cNvPr id="219" name="Text 211"/>
          <p:cNvSpPr/>
          <p:nvPr/>
        </p:nvSpPr>
        <p:spPr>
          <a:xfrm>
            <a:off x="4652467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80" dirty="0"/>
          </a:p>
        </p:txBody>
      </p:sp>
      <p:sp>
        <p:nvSpPr>
          <p:cNvPr id="220" name="Text 212"/>
          <p:cNvSpPr/>
          <p:nvPr/>
        </p:nvSpPr>
        <p:spPr>
          <a:xfrm>
            <a:off x="4841748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80" dirty="0"/>
          </a:p>
        </p:txBody>
      </p:sp>
      <p:sp>
        <p:nvSpPr>
          <p:cNvPr id="221" name="Text 213"/>
          <p:cNvSpPr/>
          <p:nvPr/>
        </p:nvSpPr>
        <p:spPr>
          <a:xfrm>
            <a:off x="5031029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80" dirty="0"/>
          </a:p>
        </p:txBody>
      </p:sp>
      <p:sp>
        <p:nvSpPr>
          <p:cNvPr id="222" name="Text 214"/>
          <p:cNvSpPr/>
          <p:nvPr/>
        </p:nvSpPr>
        <p:spPr>
          <a:xfrm>
            <a:off x="5221224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80" dirty="0"/>
          </a:p>
        </p:txBody>
      </p:sp>
      <p:sp>
        <p:nvSpPr>
          <p:cNvPr id="223" name="Text 215"/>
          <p:cNvSpPr/>
          <p:nvPr/>
        </p:nvSpPr>
        <p:spPr>
          <a:xfrm>
            <a:off x="5410505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80" dirty="0"/>
          </a:p>
        </p:txBody>
      </p:sp>
      <p:sp>
        <p:nvSpPr>
          <p:cNvPr id="224" name="Text 216"/>
          <p:cNvSpPr/>
          <p:nvPr/>
        </p:nvSpPr>
        <p:spPr>
          <a:xfrm>
            <a:off x="5599786" y="3461918"/>
            <a:ext cx="14539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80" dirty="0"/>
          </a:p>
        </p:txBody>
      </p:sp>
      <p:sp>
        <p:nvSpPr>
          <p:cNvPr id="225" name="Text 217"/>
          <p:cNvSpPr/>
          <p:nvPr/>
        </p:nvSpPr>
        <p:spPr>
          <a:xfrm>
            <a:off x="3179369" y="3585362"/>
            <a:ext cx="13167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720" dirty="0"/>
          </a:p>
        </p:txBody>
      </p:sp>
      <p:sp>
        <p:nvSpPr>
          <p:cNvPr id="226" name="Shape 218"/>
          <p:cNvSpPr/>
          <p:nvPr/>
        </p:nvSpPr>
        <p:spPr>
          <a:xfrm>
            <a:off x="3339389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27" name="Shape 219"/>
          <p:cNvSpPr/>
          <p:nvPr/>
        </p:nvSpPr>
        <p:spPr>
          <a:xfrm>
            <a:off x="3529584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28" name="Shape 220"/>
          <p:cNvSpPr/>
          <p:nvPr/>
        </p:nvSpPr>
        <p:spPr>
          <a:xfrm>
            <a:off x="3718865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29" name="Shape 221"/>
          <p:cNvSpPr/>
          <p:nvPr/>
        </p:nvSpPr>
        <p:spPr>
          <a:xfrm>
            <a:off x="3908146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0" name="Shape 222"/>
          <p:cNvSpPr/>
          <p:nvPr/>
        </p:nvSpPr>
        <p:spPr>
          <a:xfrm>
            <a:off x="4098341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1" name="Shape 223"/>
          <p:cNvSpPr/>
          <p:nvPr/>
        </p:nvSpPr>
        <p:spPr>
          <a:xfrm>
            <a:off x="4287622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2" name="Shape 224"/>
          <p:cNvSpPr/>
          <p:nvPr/>
        </p:nvSpPr>
        <p:spPr>
          <a:xfrm>
            <a:off x="4476902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3" name="Shape 225"/>
          <p:cNvSpPr/>
          <p:nvPr/>
        </p:nvSpPr>
        <p:spPr>
          <a:xfrm>
            <a:off x="4667098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4" name="Shape 226"/>
          <p:cNvSpPr/>
          <p:nvPr/>
        </p:nvSpPr>
        <p:spPr>
          <a:xfrm>
            <a:off x="4856378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5" name="Shape 227"/>
          <p:cNvSpPr/>
          <p:nvPr/>
        </p:nvSpPr>
        <p:spPr>
          <a:xfrm>
            <a:off x="5045659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6" name="Shape 228"/>
          <p:cNvSpPr/>
          <p:nvPr/>
        </p:nvSpPr>
        <p:spPr>
          <a:xfrm>
            <a:off x="5235854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7" name="Shape 229"/>
          <p:cNvSpPr/>
          <p:nvPr/>
        </p:nvSpPr>
        <p:spPr>
          <a:xfrm>
            <a:off x="5425135" y="358536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38" name="Text 230"/>
          <p:cNvSpPr/>
          <p:nvPr/>
        </p:nvSpPr>
        <p:spPr>
          <a:xfrm>
            <a:off x="3179369" y="3738982"/>
            <a:ext cx="13167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720" dirty="0"/>
          </a:p>
        </p:txBody>
      </p:sp>
      <p:sp>
        <p:nvSpPr>
          <p:cNvPr id="239" name="Shape 231"/>
          <p:cNvSpPr/>
          <p:nvPr/>
        </p:nvSpPr>
        <p:spPr>
          <a:xfrm>
            <a:off x="3339389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0" name="Shape 232"/>
          <p:cNvSpPr/>
          <p:nvPr/>
        </p:nvSpPr>
        <p:spPr>
          <a:xfrm>
            <a:off x="3529584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1" name="Shape 233"/>
          <p:cNvSpPr/>
          <p:nvPr/>
        </p:nvSpPr>
        <p:spPr>
          <a:xfrm>
            <a:off x="3718865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2" name="Shape 234"/>
          <p:cNvSpPr/>
          <p:nvPr/>
        </p:nvSpPr>
        <p:spPr>
          <a:xfrm>
            <a:off x="3908146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3" name="Shape 235"/>
          <p:cNvSpPr/>
          <p:nvPr/>
        </p:nvSpPr>
        <p:spPr>
          <a:xfrm>
            <a:off x="4098341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4" name="Shape 236"/>
          <p:cNvSpPr/>
          <p:nvPr/>
        </p:nvSpPr>
        <p:spPr>
          <a:xfrm>
            <a:off x="4287622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5" name="Shape 237"/>
          <p:cNvSpPr/>
          <p:nvPr/>
        </p:nvSpPr>
        <p:spPr>
          <a:xfrm>
            <a:off x="4476902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6" name="Shape 238"/>
          <p:cNvSpPr/>
          <p:nvPr/>
        </p:nvSpPr>
        <p:spPr>
          <a:xfrm>
            <a:off x="4667098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7" name="Shape 239"/>
          <p:cNvSpPr/>
          <p:nvPr/>
        </p:nvSpPr>
        <p:spPr>
          <a:xfrm>
            <a:off x="4856378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8" name="Shape 240"/>
          <p:cNvSpPr/>
          <p:nvPr/>
        </p:nvSpPr>
        <p:spPr>
          <a:xfrm>
            <a:off x="5045659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49" name="Shape 241"/>
          <p:cNvSpPr/>
          <p:nvPr/>
        </p:nvSpPr>
        <p:spPr>
          <a:xfrm>
            <a:off x="5235854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0" name="Shape 242"/>
          <p:cNvSpPr/>
          <p:nvPr/>
        </p:nvSpPr>
        <p:spPr>
          <a:xfrm>
            <a:off x="5425135" y="3738982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1" name="Text 243"/>
          <p:cNvSpPr/>
          <p:nvPr/>
        </p:nvSpPr>
        <p:spPr>
          <a:xfrm>
            <a:off x="3179369" y="3891686"/>
            <a:ext cx="13167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720" dirty="0"/>
          </a:p>
        </p:txBody>
      </p:sp>
      <p:sp>
        <p:nvSpPr>
          <p:cNvPr id="252" name="Shape 244"/>
          <p:cNvSpPr/>
          <p:nvPr/>
        </p:nvSpPr>
        <p:spPr>
          <a:xfrm>
            <a:off x="3339389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3" name="Shape 245"/>
          <p:cNvSpPr/>
          <p:nvPr/>
        </p:nvSpPr>
        <p:spPr>
          <a:xfrm>
            <a:off x="3529584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4" name="Shape 246"/>
          <p:cNvSpPr/>
          <p:nvPr/>
        </p:nvSpPr>
        <p:spPr>
          <a:xfrm>
            <a:off x="3718865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5" name="Shape 247"/>
          <p:cNvSpPr/>
          <p:nvPr/>
        </p:nvSpPr>
        <p:spPr>
          <a:xfrm>
            <a:off x="3908146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6" name="Shape 248"/>
          <p:cNvSpPr/>
          <p:nvPr/>
        </p:nvSpPr>
        <p:spPr>
          <a:xfrm>
            <a:off x="4098341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7" name="Shape 249"/>
          <p:cNvSpPr/>
          <p:nvPr/>
        </p:nvSpPr>
        <p:spPr>
          <a:xfrm>
            <a:off x="4287622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8" name="Shape 250"/>
          <p:cNvSpPr/>
          <p:nvPr/>
        </p:nvSpPr>
        <p:spPr>
          <a:xfrm>
            <a:off x="4476902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59" name="Shape 251"/>
          <p:cNvSpPr/>
          <p:nvPr/>
        </p:nvSpPr>
        <p:spPr>
          <a:xfrm>
            <a:off x="4667098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0" name="Shape 252"/>
          <p:cNvSpPr/>
          <p:nvPr/>
        </p:nvSpPr>
        <p:spPr>
          <a:xfrm>
            <a:off x="4856378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1" name="Shape 253"/>
          <p:cNvSpPr/>
          <p:nvPr/>
        </p:nvSpPr>
        <p:spPr>
          <a:xfrm>
            <a:off x="5045659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2" name="Shape 254"/>
          <p:cNvSpPr/>
          <p:nvPr/>
        </p:nvSpPr>
        <p:spPr>
          <a:xfrm>
            <a:off x="5235854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3" name="Shape 255"/>
          <p:cNvSpPr/>
          <p:nvPr/>
        </p:nvSpPr>
        <p:spPr>
          <a:xfrm>
            <a:off x="5425135" y="3891686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4" name="Text 256"/>
          <p:cNvSpPr/>
          <p:nvPr/>
        </p:nvSpPr>
        <p:spPr>
          <a:xfrm>
            <a:off x="3179369" y="4044391"/>
            <a:ext cx="13167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720" dirty="0"/>
          </a:p>
        </p:txBody>
      </p:sp>
      <p:sp>
        <p:nvSpPr>
          <p:cNvPr id="265" name="Shape 257"/>
          <p:cNvSpPr/>
          <p:nvPr/>
        </p:nvSpPr>
        <p:spPr>
          <a:xfrm>
            <a:off x="3339389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6" name="Shape 258"/>
          <p:cNvSpPr/>
          <p:nvPr/>
        </p:nvSpPr>
        <p:spPr>
          <a:xfrm>
            <a:off x="3529584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7" name="Shape 259"/>
          <p:cNvSpPr/>
          <p:nvPr/>
        </p:nvSpPr>
        <p:spPr>
          <a:xfrm>
            <a:off x="3718865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8" name="Shape 260"/>
          <p:cNvSpPr/>
          <p:nvPr/>
        </p:nvSpPr>
        <p:spPr>
          <a:xfrm>
            <a:off x="3908146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69" name="Shape 261"/>
          <p:cNvSpPr/>
          <p:nvPr/>
        </p:nvSpPr>
        <p:spPr>
          <a:xfrm>
            <a:off x="4098341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0" name="Shape 262"/>
          <p:cNvSpPr/>
          <p:nvPr/>
        </p:nvSpPr>
        <p:spPr>
          <a:xfrm>
            <a:off x="4287622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1" name="Shape 263"/>
          <p:cNvSpPr/>
          <p:nvPr/>
        </p:nvSpPr>
        <p:spPr>
          <a:xfrm>
            <a:off x="4476902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2" name="Shape 264"/>
          <p:cNvSpPr/>
          <p:nvPr/>
        </p:nvSpPr>
        <p:spPr>
          <a:xfrm>
            <a:off x="4667098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3" name="Shape 265"/>
          <p:cNvSpPr/>
          <p:nvPr/>
        </p:nvSpPr>
        <p:spPr>
          <a:xfrm>
            <a:off x="4856378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4" name="Shape 266"/>
          <p:cNvSpPr/>
          <p:nvPr/>
        </p:nvSpPr>
        <p:spPr>
          <a:xfrm>
            <a:off x="5045659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5" name="Shape 267"/>
          <p:cNvSpPr/>
          <p:nvPr/>
        </p:nvSpPr>
        <p:spPr>
          <a:xfrm>
            <a:off x="5235854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6" name="Shape 268"/>
          <p:cNvSpPr/>
          <p:nvPr/>
        </p:nvSpPr>
        <p:spPr>
          <a:xfrm>
            <a:off x="5425135" y="4044391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7" name="Text 269"/>
          <p:cNvSpPr/>
          <p:nvPr/>
        </p:nvSpPr>
        <p:spPr>
          <a:xfrm>
            <a:off x="3179369" y="4198010"/>
            <a:ext cx="131674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720" dirty="0"/>
          </a:p>
        </p:txBody>
      </p:sp>
      <p:sp>
        <p:nvSpPr>
          <p:cNvPr id="278" name="Shape 270"/>
          <p:cNvSpPr/>
          <p:nvPr/>
        </p:nvSpPr>
        <p:spPr>
          <a:xfrm>
            <a:off x="3339389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79" name="Shape 271"/>
          <p:cNvSpPr/>
          <p:nvPr/>
        </p:nvSpPr>
        <p:spPr>
          <a:xfrm>
            <a:off x="3529584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0" name="Shape 272"/>
          <p:cNvSpPr/>
          <p:nvPr/>
        </p:nvSpPr>
        <p:spPr>
          <a:xfrm>
            <a:off x="3718865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1" name="Shape 273"/>
          <p:cNvSpPr/>
          <p:nvPr/>
        </p:nvSpPr>
        <p:spPr>
          <a:xfrm>
            <a:off x="3908146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2" name="Shape 274"/>
          <p:cNvSpPr/>
          <p:nvPr/>
        </p:nvSpPr>
        <p:spPr>
          <a:xfrm>
            <a:off x="4098341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3" name="Shape 275"/>
          <p:cNvSpPr/>
          <p:nvPr/>
        </p:nvSpPr>
        <p:spPr>
          <a:xfrm>
            <a:off x="4287622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4" name="Shape 276"/>
          <p:cNvSpPr/>
          <p:nvPr/>
        </p:nvSpPr>
        <p:spPr>
          <a:xfrm>
            <a:off x="4476902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5045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5" name="Shape 277"/>
          <p:cNvSpPr/>
          <p:nvPr/>
        </p:nvSpPr>
        <p:spPr>
          <a:xfrm>
            <a:off x="4667098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6" name="Shape 278"/>
          <p:cNvSpPr/>
          <p:nvPr/>
        </p:nvSpPr>
        <p:spPr>
          <a:xfrm>
            <a:off x="4856378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A8D642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7" name="Shape 279"/>
          <p:cNvSpPr/>
          <p:nvPr/>
        </p:nvSpPr>
        <p:spPr>
          <a:xfrm>
            <a:off x="5045659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8" name="Shape 280"/>
          <p:cNvSpPr/>
          <p:nvPr/>
        </p:nvSpPr>
        <p:spPr>
          <a:xfrm>
            <a:off x="5235854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6B91E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89" name="Shape 281"/>
          <p:cNvSpPr/>
          <p:nvPr/>
        </p:nvSpPr>
        <p:spPr>
          <a:xfrm>
            <a:off x="5425135" y="4198010"/>
            <a:ext cx="174650" cy="130759"/>
          </a:xfrm>
          <a:prstGeom prst="roundRect">
            <a:avLst>
              <a:gd name="adj" fmla="val 5594"/>
            </a:avLst>
          </a:prstGeom>
          <a:solidFill>
            <a:srgbClr val="F07B2C"/>
          </a:solidFill>
          <a:ln w="7290">
            <a:solidFill>
              <a:srgbClr val="183044"/>
            </a:solidFill>
            <a:prstDash val="solid"/>
          </a:ln>
        </p:spPr>
      </p:sp>
      <p:sp>
        <p:nvSpPr>
          <p:cNvPr id="290" name="Text 282"/>
          <p:cNvSpPr/>
          <p:nvPr/>
        </p:nvSpPr>
        <p:spPr>
          <a:xfrm>
            <a:off x="5847588" y="3599993"/>
            <a:ext cx="408737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 / rack</a:t>
            </a:r>
            <a:endParaRPr lang="en-US" sz="650" dirty="0"/>
          </a:p>
        </p:txBody>
      </p:sp>
      <p:sp>
        <p:nvSpPr>
          <p:cNvPr id="291" name="Shape 283"/>
          <p:cNvSpPr/>
          <p:nvPr/>
        </p:nvSpPr>
        <p:spPr>
          <a:xfrm>
            <a:off x="5979262" y="3702406"/>
            <a:ext cx="73152" cy="73152"/>
          </a:xfrm>
          <a:prstGeom prst="roundRect">
            <a:avLst>
              <a:gd name="adj" fmla="val 10000"/>
            </a:avLst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292" name="Text 284"/>
          <p:cNvSpPr/>
          <p:nvPr/>
        </p:nvSpPr>
        <p:spPr>
          <a:xfrm>
            <a:off x="6081674" y="3687775"/>
            <a:ext cx="16002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</a:t>
            </a:r>
            <a:endParaRPr lang="en-US" sz="640" dirty="0"/>
          </a:p>
        </p:txBody>
      </p:sp>
      <p:sp>
        <p:nvSpPr>
          <p:cNvPr id="293" name="Shape 285"/>
          <p:cNvSpPr/>
          <p:nvPr/>
        </p:nvSpPr>
        <p:spPr>
          <a:xfrm>
            <a:off x="5979262" y="3811219"/>
            <a:ext cx="73152" cy="73152"/>
          </a:xfrm>
          <a:prstGeom prst="roundRect">
            <a:avLst>
              <a:gd name="adj" fmla="val 10000"/>
            </a:avLst>
          </a:prstGeom>
          <a:solidFill>
            <a:srgbClr val="F07B2C"/>
          </a:solidFill>
          <a:ln w="7290">
            <a:solidFill>
              <a:srgbClr val="F07B2C"/>
            </a:solidFill>
            <a:prstDash val="solid"/>
          </a:ln>
        </p:spPr>
      </p:sp>
      <p:sp>
        <p:nvSpPr>
          <p:cNvPr id="294" name="Text 286"/>
          <p:cNvSpPr/>
          <p:nvPr/>
        </p:nvSpPr>
        <p:spPr>
          <a:xfrm>
            <a:off x="6081674" y="3796589"/>
            <a:ext cx="16002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40" dirty="0"/>
          </a:p>
        </p:txBody>
      </p:sp>
      <p:sp>
        <p:nvSpPr>
          <p:cNvPr id="295" name="Shape 287"/>
          <p:cNvSpPr/>
          <p:nvPr/>
        </p:nvSpPr>
        <p:spPr>
          <a:xfrm>
            <a:off x="5979262" y="3920947"/>
            <a:ext cx="73152" cy="73152"/>
          </a:xfrm>
          <a:prstGeom prst="roundRect">
            <a:avLst>
              <a:gd name="adj" fmla="val 10000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296" name="Text 288"/>
          <p:cNvSpPr/>
          <p:nvPr/>
        </p:nvSpPr>
        <p:spPr>
          <a:xfrm>
            <a:off x="6081674" y="3906317"/>
            <a:ext cx="16002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40" dirty="0"/>
          </a:p>
        </p:txBody>
      </p:sp>
      <p:sp>
        <p:nvSpPr>
          <p:cNvPr id="297" name="Shape 289"/>
          <p:cNvSpPr/>
          <p:nvPr/>
        </p:nvSpPr>
        <p:spPr>
          <a:xfrm>
            <a:off x="5979262" y="4030675"/>
            <a:ext cx="73152" cy="73152"/>
          </a:xfrm>
          <a:prstGeom prst="roundRect">
            <a:avLst>
              <a:gd name="adj" fmla="val 10000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298" name="Text 290"/>
          <p:cNvSpPr/>
          <p:nvPr/>
        </p:nvSpPr>
        <p:spPr>
          <a:xfrm>
            <a:off x="6081674" y="4016045"/>
            <a:ext cx="16002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40" dirty="0"/>
          </a:p>
        </p:txBody>
      </p:sp>
      <p:sp>
        <p:nvSpPr>
          <p:cNvPr id="299" name="Shape 291"/>
          <p:cNvSpPr/>
          <p:nvPr/>
        </p:nvSpPr>
        <p:spPr>
          <a:xfrm>
            <a:off x="5979262" y="4139489"/>
            <a:ext cx="73152" cy="73152"/>
          </a:xfrm>
          <a:prstGeom prst="roundRect">
            <a:avLst>
              <a:gd name="adj" fmla="val 10000"/>
            </a:avLst>
          </a:prstGeom>
          <a:solidFill>
            <a:srgbClr val="58C36A"/>
          </a:solidFill>
          <a:ln w="7290">
            <a:solidFill>
              <a:srgbClr val="58C36A"/>
            </a:solidFill>
            <a:prstDash val="solid"/>
          </a:ln>
        </p:spPr>
      </p:sp>
      <p:sp>
        <p:nvSpPr>
          <p:cNvPr id="300" name="Text 292"/>
          <p:cNvSpPr/>
          <p:nvPr/>
        </p:nvSpPr>
        <p:spPr>
          <a:xfrm>
            <a:off x="6081674" y="4124858"/>
            <a:ext cx="16002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40" dirty="0"/>
          </a:p>
        </p:txBody>
      </p:sp>
      <p:sp>
        <p:nvSpPr>
          <p:cNvPr id="301" name="Shape 293"/>
          <p:cNvSpPr/>
          <p:nvPr/>
        </p:nvSpPr>
        <p:spPr>
          <a:xfrm>
            <a:off x="5979262" y="4249217"/>
            <a:ext cx="73152" cy="73152"/>
          </a:xfrm>
          <a:prstGeom prst="roundRect">
            <a:avLst>
              <a:gd name="adj" fmla="val 10000"/>
            </a:avLst>
          </a:prstGeom>
          <a:solidFill>
            <a:srgbClr val="1E8B55"/>
          </a:solidFill>
          <a:ln w="7290">
            <a:solidFill>
              <a:srgbClr val="1E8B55"/>
            </a:solidFill>
            <a:prstDash val="solid"/>
          </a:ln>
        </p:spPr>
      </p:sp>
      <p:sp>
        <p:nvSpPr>
          <p:cNvPr id="302" name="Text 294"/>
          <p:cNvSpPr/>
          <p:nvPr/>
        </p:nvSpPr>
        <p:spPr>
          <a:xfrm>
            <a:off x="6081674" y="4234586"/>
            <a:ext cx="16002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</a:t>
            </a:r>
            <a:endParaRPr lang="en-US" sz="640" dirty="0"/>
          </a:p>
        </p:txBody>
      </p:sp>
      <p:sp>
        <p:nvSpPr>
          <p:cNvPr id="303" name="Shape 295"/>
          <p:cNvSpPr/>
          <p:nvPr/>
        </p:nvSpPr>
        <p:spPr>
          <a:xfrm>
            <a:off x="6241694" y="3308299"/>
            <a:ext cx="1603858" cy="1151230"/>
          </a:xfrm>
          <a:prstGeom prst="roundRect">
            <a:avLst>
              <a:gd name="adj" fmla="val 3813"/>
            </a:avLst>
          </a:prstGeom>
          <a:solidFill>
            <a:srgbClr val="07172A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04" name="Text 296"/>
          <p:cNvSpPr/>
          <p:nvPr/>
        </p:nvSpPr>
        <p:spPr>
          <a:xfrm>
            <a:off x="6387084" y="3410712"/>
            <a:ext cx="875081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Distribution</a:t>
            </a:r>
            <a:endParaRPr lang="en-US" sz="800" dirty="0"/>
          </a:p>
        </p:txBody>
      </p:sp>
      <p:sp>
        <p:nvSpPr>
          <p:cNvPr id="305" name="Shape 297"/>
          <p:cNvSpPr/>
          <p:nvPr/>
        </p:nvSpPr>
        <p:spPr>
          <a:xfrm>
            <a:off x="6358738" y="3599993"/>
            <a:ext cx="102413" cy="102413"/>
          </a:xfrm>
          <a:prstGeom prst="roundRect">
            <a:avLst>
              <a:gd name="adj" fmla="val 7143"/>
            </a:avLst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306" name="Text 298"/>
          <p:cNvSpPr/>
          <p:nvPr/>
        </p:nvSpPr>
        <p:spPr>
          <a:xfrm>
            <a:off x="6518758" y="3578047"/>
            <a:ext cx="72877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(&gt; 20 kW)</a:t>
            </a:r>
            <a:endParaRPr lang="en-US" sz="800" dirty="0"/>
          </a:p>
        </p:txBody>
      </p:sp>
      <p:sp>
        <p:nvSpPr>
          <p:cNvPr id="307" name="Text 299"/>
          <p:cNvSpPr/>
          <p:nvPr/>
        </p:nvSpPr>
        <p:spPr>
          <a:xfrm>
            <a:off x="7379208" y="3578047"/>
            <a:ext cx="306324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800" dirty="0"/>
          </a:p>
        </p:txBody>
      </p:sp>
      <p:sp>
        <p:nvSpPr>
          <p:cNvPr id="308" name="Shape 300"/>
          <p:cNvSpPr/>
          <p:nvPr/>
        </p:nvSpPr>
        <p:spPr>
          <a:xfrm>
            <a:off x="6358738" y="3790188"/>
            <a:ext cx="102413" cy="102413"/>
          </a:xfrm>
          <a:prstGeom prst="roundRect">
            <a:avLst>
              <a:gd name="adj" fmla="val 7143"/>
            </a:avLst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09" name="Text 301"/>
          <p:cNvSpPr/>
          <p:nvPr/>
        </p:nvSpPr>
        <p:spPr>
          <a:xfrm>
            <a:off x="6518758" y="3768242"/>
            <a:ext cx="72877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(10-20 kW)</a:t>
            </a:r>
            <a:endParaRPr lang="en-US" sz="800" dirty="0"/>
          </a:p>
        </p:txBody>
      </p:sp>
      <p:sp>
        <p:nvSpPr>
          <p:cNvPr id="310" name="Text 302"/>
          <p:cNvSpPr/>
          <p:nvPr/>
        </p:nvSpPr>
        <p:spPr>
          <a:xfrm>
            <a:off x="7379208" y="3768242"/>
            <a:ext cx="306324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800" dirty="0"/>
          </a:p>
        </p:txBody>
      </p:sp>
      <p:sp>
        <p:nvSpPr>
          <p:cNvPr id="311" name="Shape 303"/>
          <p:cNvSpPr/>
          <p:nvPr/>
        </p:nvSpPr>
        <p:spPr>
          <a:xfrm>
            <a:off x="6358738" y="3979469"/>
            <a:ext cx="102413" cy="102413"/>
          </a:xfrm>
          <a:prstGeom prst="roundRect">
            <a:avLst>
              <a:gd name="adj" fmla="val 7143"/>
            </a:avLst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312" name="Text 304"/>
          <p:cNvSpPr/>
          <p:nvPr/>
        </p:nvSpPr>
        <p:spPr>
          <a:xfrm>
            <a:off x="6518758" y="3957523"/>
            <a:ext cx="72877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(&lt; 10 kW)</a:t>
            </a:r>
            <a:endParaRPr lang="en-US" sz="800" dirty="0"/>
          </a:p>
        </p:txBody>
      </p:sp>
      <p:sp>
        <p:nvSpPr>
          <p:cNvPr id="313" name="Text 305"/>
          <p:cNvSpPr/>
          <p:nvPr/>
        </p:nvSpPr>
        <p:spPr>
          <a:xfrm>
            <a:off x="7379208" y="3957523"/>
            <a:ext cx="306324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800" dirty="0"/>
          </a:p>
        </p:txBody>
      </p:sp>
      <p:sp>
        <p:nvSpPr>
          <p:cNvPr id="314" name="Shape 306"/>
          <p:cNvSpPr/>
          <p:nvPr/>
        </p:nvSpPr>
        <p:spPr>
          <a:xfrm>
            <a:off x="7926019" y="3308299"/>
            <a:ext cx="1677010" cy="655625"/>
          </a:xfrm>
          <a:prstGeom prst="roundRect">
            <a:avLst>
              <a:gd name="adj" fmla="val 6695"/>
            </a:avLst>
          </a:prstGeom>
          <a:solidFill>
            <a:srgbClr val="07172A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15" name="Shape 307"/>
          <p:cNvSpPr/>
          <p:nvPr/>
        </p:nvSpPr>
        <p:spPr>
          <a:xfrm>
            <a:off x="8093354" y="3418027"/>
            <a:ext cx="510235" cy="510235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16" name="Shape 308"/>
          <p:cNvSpPr/>
          <p:nvPr/>
        </p:nvSpPr>
        <p:spPr>
          <a:xfrm>
            <a:off x="8188452" y="3513125"/>
            <a:ext cx="320954" cy="320954"/>
          </a:xfrm>
          <a:prstGeom prst="ellipse">
            <a:avLst/>
          </a:prstGeom>
          <a:solidFill>
            <a:srgbClr val="081525"/>
          </a:solidFill>
          <a:ln w="7290">
            <a:solidFill>
              <a:srgbClr val="081525"/>
            </a:solidFill>
            <a:prstDash val="solid"/>
          </a:ln>
        </p:spPr>
      </p:sp>
      <p:sp>
        <p:nvSpPr>
          <p:cNvPr id="317" name="Shape 309"/>
          <p:cNvSpPr/>
          <p:nvPr/>
        </p:nvSpPr>
        <p:spPr>
          <a:xfrm>
            <a:off x="8312810" y="3425342"/>
            <a:ext cx="87782" cy="174650"/>
          </a:xfrm>
          <a:prstGeom prst="roundRect">
            <a:avLst>
              <a:gd name="adj" fmla="val 8333"/>
            </a:avLst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318" name="Text 310"/>
          <p:cNvSpPr/>
          <p:nvPr/>
        </p:nvSpPr>
        <p:spPr>
          <a:xfrm>
            <a:off x="8662111" y="3483864"/>
            <a:ext cx="58338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830" dirty="0"/>
          </a:p>
        </p:txBody>
      </p:sp>
      <p:sp>
        <p:nvSpPr>
          <p:cNvPr id="319" name="Text 311"/>
          <p:cNvSpPr/>
          <p:nvPr/>
        </p:nvSpPr>
        <p:spPr>
          <a:xfrm>
            <a:off x="8662111" y="3636569"/>
            <a:ext cx="728777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distribution</a:t>
            </a:r>
            <a:endParaRPr lang="en-US" sz="830" dirty="0"/>
          </a:p>
        </p:txBody>
      </p:sp>
      <p:sp>
        <p:nvSpPr>
          <p:cNvPr id="320" name="Shape 312"/>
          <p:cNvSpPr/>
          <p:nvPr/>
        </p:nvSpPr>
        <p:spPr>
          <a:xfrm>
            <a:off x="7926019" y="4008730"/>
            <a:ext cx="1677010" cy="684886"/>
          </a:xfrm>
          <a:prstGeom prst="roundRect">
            <a:avLst>
              <a:gd name="adj" fmla="val 6409"/>
            </a:avLst>
          </a:prstGeom>
          <a:solidFill>
            <a:srgbClr val="07172A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21" name="Text 313"/>
          <p:cNvSpPr/>
          <p:nvPr/>
        </p:nvSpPr>
        <p:spPr>
          <a:xfrm>
            <a:off x="8035747" y="4124858"/>
            <a:ext cx="948233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Headroom</a:t>
            </a:r>
            <a:endParaRPr lang="en-US" sz="920" dirty="0"/>
          </a:p>
        </p:txBody>
      </p:sp>
      <p:sp>
        <p:nvSpPr>
          <p:cNvPr id="322" name="Shape 314"/>
          <p:cNvSpPr/>
          <p:nvPr/>
        </p:nvSpPr>
        <p:spPr>
          <a:xfrm>
            <a:off x="8050378" y="4343400"/>
            <a:ext cx="423367" cy="277063"/>
          </a:xfrm>
          <a:prstGeom prst="roundRect">
            <a:avLst>
              <a:gd name="adj" fmla="val 18482"/>
            </a:avLst>
          </a:prstGeom>
          <a:solidFill>
            <a:srgbClr val="061323">
              <a:alpha val="82000"/>
            </a:srgbClr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323" name="Text 315"/>
          <p:cNvSpPr/>
          <p:nvPr/>
        </p:nvSpPr>
        <p:spPr>
          <a:xfrm>
            <a:off x="8122615" y="4379976"/>
            <a:ext cx="277063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7F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740" dirty="0"/>
          </a:p>
        </p:txBody>
      </p:sp>
      <p:sp>
        <p:nvSpPr>
          <p:cNvPr id="324" name="Text 316"/>
          <p:cNvSpPr/>
          <p:nvPr/>
        </p:nvSpPr>
        <p:spPr>
          <a:xfrm>
            <a:off x="8122615" y="4467758"/>
            <a:ext cx="277063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0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C</a:t>
            </a:r>
            <a:endParaRPr lang="en-US" sz="1200" dirty="0"/>
          </a:p>
        </p:txBody>
      </p:sp>
      <p:sp>
        <p:nvSpPr>
          <p:cNvPr id="325" name="Shape 317"/>
          <p:cNvSpPr/>
          <p:nvPr/>
        </p:nvSpPr>
        <p:spPr>
          <a:xfrm>
            <a:off x="8545982" y="4343400"/>
            <a:ext cx="423367" cy="277063"/>
          </a:xfrm>
          <a:prstGeom prst="roundRect">
            <a:avLst>
              <a:gd name="adj" fmla="val 18482"/>
            </a:avLst>
          </a:prstGeom>
          <a:solidFill>
            <a:srgbClr val="061323">
              <a:alpha val="82000"/>
            </a:srgbClr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26" name="Text 318"/>
          <p:cNvSpPr/>
          <p:nvPr/>
        </p:nvSpPr>
        <p:spPr>
          <a:xfrm>
            <a:off x="8619134" y="4379976"/>
            <a:ext cx="277063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7F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740" dirty="0"/>
          </a:p>
        </p:txBody>
      </p:sp>
      <p:sp>
        <p:nvSpPr>
          <p:cNvPr id="327" name="Text 319"/>
          <p:cNvSpPr/>
          <p:nvPr/>
        </p:nvSpPr>
        <p:spPr>
          <a:xfrm>
            <a:off x="8619134" y="4467758"/>
            <a:ext cx="277063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 C</a:t>
            </a:r>
            <a:endParaRPr lang="en-US" sz="1200" dirty="0"/>
          </a:p>
        </p:txBody>
      </p:sp>
      <p:sp>
        <p:nvSpPr>
          <p:cNvPr id="328" name="Shape 320"/>
          <p:cNvSpPr/>
          <p:nvPr/>
        </p:nvSpPr>
        <p:spPr>
          <a:xfrm>
            <a:off x="9041587" y="4343400"/>
            <a:ext cx="423367" cy="277063"/>
          </a:xfrm>
          <a:prstGeom prst="roundRect">
            <a:avLst>
              <a:gd name="adj" fmla="val 18482"/>
            </a:avLst>
          </a:prstGeom>
          <a:solidFill>
            <a:srgbClr val="061323">
              <a:alpha val="82000"/>
            </a:srgbClr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329" name="Text 321"/>
          <p:cNvSpPr/>
          <p:nvPr/>
        </p:nvSpPr>
        <p:spPr>
          <a:xfrm>
            <a:off x="9114739" y="4379976"/>
            <a:ext cx="277063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7F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740" dirty="0"/>
          </a:p>
        </p:txBody>
      </p:sp>
      <p:sp>
        <p:nvSpPr>
          <p:cNvPr id="330" name="Text 322"/>
          <p:cNvSpPr/>
          <p:nvPr/>
        </p:nvSpPr>
        <p:spPr>
          <a:xfrm>
            <a:off x="9114739" y="4467758"/>
            <a:ext cx="277063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 C</a:t>
            </a:r>
            <a:endParaRPr lang="en-US" sz="1200" dirty="0"/>
          </a:p>
        </p:txBody>
      </p:sp>
      <p:sp>
        <p:nvSpPr>
          <p:cNvPr id="331" name="Shape 323"/>
          <p:cNvSpPr/>
          <p:nvPr/>
        </p:nvSpPr>
        <p:spPr>
          <a:xfrm>
            <a:off x="3193999" y="4445813"/>
            <a:ext cx="4229100" cy="262433"/>
          </a:xfrm>
          <a:prstGeom prst="roundRect">
            <a:avLst>
              <a:gd name="adj" fmla="val 13937"/>
            </a:avLst>
          </a:prstGeom>
          <a:solidFill>
            <a:srgbClr val="061323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32" name="Text 324"/>
          <p:cNvSpPr/>
          <p:nvPr/>
        </p:nvSpPr>
        <p:spPr>
          <a:xfrm>
            <a:off x="3295498" y="4518965"/>
            <a:ext cx="801929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IT Load</a:t>
            </a:r>
            <a:endParaRPr lang="en-US" sz="900" dirty="0"/>
          </a:p>
        </p:txBody>
      </p:sp>
      <p:sp>
        <p:nvSpPr>
          <p:cNvPr id="333" name="Text 325"/>
          <p:cNvSpPr/>
          <p:nvPr/>
        </p:nvSpPr>
        <p:spPr>
          <a:xfrm>
            <a:off x="4098341" y="4518965"/>
            <a:ext cx="656539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2,846 kW</a:t>
            </a:r>
            <a:endParaRPr lang="en-US" sz="1200" dirty="0"/>
          </a:p>
        </p:txBody>
      </p:sp>
      <p:sp>
        <p:nvSpPr>
          <p:cNvPr id="334" name="Text 326"/>
          <p:cNvSpPr/>
          <p:nvPr/>
        </p:nvSpPr>
        <p:spPr>
          <a:xfrm>
            <a:off x="5235854" y="4518965"/>
            <a:ext cx="656539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Rack</a:t>
            </a:r>
            <a:endParaRPr lang="en-US" sz="900" dirty="0"/>
          </a:p>
        </p:txBody>
      </p:sp>
      <p:sp>
        <p:nvSpPr>
          <p:cNvPr id="335" name="Shape 327"/>
          <p:cNvSpPr/>
          <p:nvPr/>
        </p:nvSpPr>
        <p:spPr>
          <a:xfrm>
            <a:off x="5731459" y="4497019"/>
            <a:ext cx="510235" cy="160020"/>
          </a:xfrm>
          <a:prstGeom prst="roundRect">
            <a:avLst>
              <a:gd name="adj" fmla="val 18286"/>
            </a:avLst>
          </a:prstGeom>
          <a:solidFill>
            <a:srgbClr val="180A10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336" name="Text 328"/>
          <p:cNvSpPr/>
          <p:nvPr/>
        </p:nvSpPr>
        <p:spPr>
          <a:xfrm>
            <a:off x="5775350" y="4518965"/>
            <a:ext cx="42336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R3-06</a:t>
            </a:r>
            <a:endParaRPr lang="en-US" sz="900" dirty="0"/>
          </a:p>
        </p:txBody>
      </p:sp>
      <p:sp>
        <p:nvSpPr>
          <p:cNvPr id="337" name="Text 329"/>
          <p:cNvSpPr/>
          <p:nvPr/>
        </p:nvSpPr>
        <p:spPr>
          <a:xfrm>
            <a:off x="6256325" y="4518965"/>
            <a:ext cx="656539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0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 kW</a:t>
            </a:r>
            <a:endParaRPr lang="en-US" sz="1050" dirty="0"/>
          </a:p>
        </p:txBody>
      </p:sp>
      <p:sp>
        <p:nvSpPr>
          <p:cNvPr id="338" name="Text 330"/>
          <p:cNvSpPr/>
          <p:nvPr/>
        </p:nvSpPr>
        <p:spPr>
          <a:xfrm>
            <a:off x="7072884" y="4518965"/>
            <a:ext cx="495605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Hotspots</a:t>
            </a:r>
            <a:endParaRPr lang="en-US" sz="900" dirty="0"/>
          </a:p>
        </p:txBody>
      </p:sp>
      <p:sp>
        <p:nvSpPr>
          <p:cNvPr id="339" name="Shape 331"/>
          <p:cNvSpPr/>
          <p:nvPr/>
        </p:nvSpPr>
        <p:spPr>
          <a:xfrm>
            <a:off x="7568489" y="4497019"/>
            <a:ext cx="203911" cy="160020"/>
          </a:xfrm>
          <a:prstGeom prst="roundRect">
            <a:avLst>
              <a:gd name="adj" fmla="val 18286"/>
            </a:avLst>
          </a:prstGeom>
          <a:solidFill>
            <a:srgbClr val="180A10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340" name="Text 332"/>
          <p:cNvSpPr/>
          <p:nvPr/>
        </p:nvSpPr>
        <p:spPr>
          <a:xfrm>
            <a:off x="7568489" y="4518965"/>
            <a:ext cx="203911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0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41" name="Shape 333"/>
          <p:cNvSpPr/>
          <p:nvPr/>
        </p:nvSpPr>
        <p:spPr>
          <a:xfrm>
            <a:off x="102413" y="4846320"/>
            <a:ext cx="7328002" cy="1384402"/>
          </a:xfrm>
          <a:prstGeom prst="roundRect">
            <a:avLst>
              <a:gd name="adj" fmla="val 4227"/>
            </a:avLst>
          </a:prstGeom>
          <a:solidFill>
            <a:srgbClr val="071A2C">
              <a:alpha val="94000"/>
            </a:srgbClr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42" name="Text 334"/>
          <p:cNvSpPr/>
          <p:nvPr/>
        </p:nvSpPr>
        <p:spPr>
          <a:xfrm>
            <a:off x="2873045" y="4882896"/>
            <a:ext cx="1750162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(Top 5)</a:t>
            </a:r>
            <a:endParaRPr lang="en-US" sz="1100" dirty="0"/>
          </a:p>
        </p:txBody>
      </p:sp>
      <p:sp>
        <p:nvSpPr>
          <p:cNvPr id="343" name="Shape 335"/>
          <p:cNvSpPr/>
          <p:nvPr/>
        </p:nvSpPr>
        <p:spPr>
          <a:xfrm>
            <a:off x="174650" y="4999939"/>
            <a:ext cx="233172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44" name="Text 336"/>
          <p:cNvSpPr/>
          <p:nvPr/>
        </p:nvSpPr>
        <p:spPr>
          <a:xfrm>
            <a:off x="203911" y="5028286"/>
            <a:ext cx="17465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720" dirty="0"/>
          </a:p>
        </p:txBody>
      </p:sp>
      <p:sp>
        <p:nvSpPr>
          <p:cNvPr id="345" name="Shape 337"/>
          <p:cNvSpPr/>
          <p:nvPr/>
        </p:nvSpPr>
        <p:spPr>
          <a:xfrm>
            <a:off x="408737" y="4999939"/>
            <a:ext cx="948233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46" name="Text 338"/>
          <p:cNvSpPr/>
          <p:nvPr/>
        </p:nvSpPr>
        <p:spPr>
          <a:xfrm>
            <a:off x="437083" y="5028286"/>
            <a:ext cx="889711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20" dirty="0"/>
          </a:p>
        </p:txBody>
      </p:sp>
      <p:sp>
        <p:nvSpPr>
          <p:cNvPr id="347" name="Shape 339"/>
          <p:cNvSpPr/>
          <p:nvPr/>
        </p:nvSpPr>
        <p:spPr>
          <a:xfrm>
            <a:off x="1356055" y="4999939"/>
            <a:ext cx="641909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48" name="Text 340"/>
          <p:cNvSpPr/>
          <p:nvPr/>
        </p:nvSpPr>
        <p:spPr>
          <a:xfrm>
            <a:off x="1385316" y="5028286"/>
            <a:ext cx="58338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720" dirty="0"/>
          </a:p>
        </p:txBody>
      </p:sp>
      <p:sp>
        <p:nvSpPr>
          <p:cNvPr id="349" name="Shape 341"/>
          <p:cNvSpPr/>
          <p:nvPr/>
        </p:nvSpPr>
        <p:spPr>
          <a:xfrm>
            <a:off x="1997964" y="4999939"/>
            <a:ext cx="641909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50" name="Text 342"/>
          <p:cNvSpPr/>
          <p:nvPr/>
        </p:nvSpPr>
        <p:spPr>
          <a:xfrm>
            <a:off x="2027225" y="5028286"/>
            <a:ext cx="58338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720" dirty="0"/>
          </a:p>
        </p:txBody>
      </p:sp>
      <p:sp>
        <p:nvSpPr>
          <p:cNvPr id="351" name="Shape 343"/>
          <p:cNvSpPr/>
          <p:nvPr/>
        </p:nvSpPr>
        <p:spPr>
          <a:xfrm>
            <a:off x="2639873" y="4999939"/>
            <a:ext cx="641909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52" name="Text 344"/>
          <p:cNvSpPr/>
          <p:nvPr/>
        </p:nvSpPr>
        <p:spPr>
          <a:xfrm>
            <a:off x="2669134" y="5028286"/>
            <a:ext cx="58338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20" dirty="0"/>
          </a:p>
        </p:txBody>
      </p:sp>
      <p:sp>
        <p:nvSpPr>
          <p:cNvPr id="353" name="Shape 345"/>
          <p:cNvSpPr/>
          <p:nvPr/>
        </p:nvSpPr>
        <p:spPr>
          <a:xfrm>
            <a:off x="3280867" y="4999939"/>
            <a:ext cx="539496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54" name="Text 346"/>
          <p:cNvSpPr/>
          <p:nvPr/>
        </p:nvSpPr>
        <p:spPr>
          <a:xfrm>
            <a:off x="3310128" y="5028286"/>
            <a:ext cx="48097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20" dirty="0"/>
          </a:p>
        </p:txBody>
      </p:sp>
      <p:sp>
        <p:nvSpPr>
          <p:cNvPr id="355" name="Shape 347"/>
          <p:cNvSpPr/>
          <p:nvPr/>
        </p:nvSpPr>
        <p:spPr>
          <a:xfrm>
            <a:off x="3821278" y="4999939"/>
            <a:ext cx="1297534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56" name="Text 348"/>
          <p:cNvSpPr/>
          <p:nvPr/>
        </p:nvSpPr>
        <p:spPr>
          <a:xfrm>
            <a:off x="3849624" y="5028286"/>
            <a:ext cx="123992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Indicators</a:t>
            </a:r>
            <a:endParaRPr lang="en-US" sz="720" dirty="0"/>
          </a:p>
        </p:txBody>
      </p:sp>
      <p:sp>
        <p:nvSpPr>
          <p:cNvPr id="357" name="Shape 349"/>
          <p:cNvSpPr/>
          <p:nvPr/>
        </p:nvSpPr>
        <p:spPr>
          <a:xfrm>
            <a:off x="5118811" y="4999939"/>
            <a:ext cx="1297534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58" name="Text 350"/>
          <p:cNvSpPr/>
          <p:nvPr/>
        </p:nvSpPr>
        <p:spPr>
          <a:xfrm>
            <a:off x="5148072" y="5028286"/>
            <a:ext cx="123992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720" dirty="0"/>
          </a:p>
        </p:txBody>
      </p:sp>
      <p:sp>
        <p:nvSpPr>
          <p:cNvPr id="359" name="Shape 351"/>
          <p:cNvSpPr/>
          <p:nvPr/>
        </p:nvSpPr>
        <p:spPr>
          <a:xfrm>
            <a:off x="6416345" y="4999939"/>
            <a:ext cx="568757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60" name="Text 352"/>
          <p:cNvSpPr/>
          <p:nvPr/>
        </p:nvSpPr>
        <p:spPr>
          <a:xfrm>
            <a:off x="6445606" y="5028286"/>
            <a:ext cx="510235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20" dirty="0"/>
          </a:p>
        </p:txBody>
      </p:sp>
      <p:sp>
        <p:nvSpPr>
          <p:cNvPr id="361" name="Shape 353"/>
          <p:cNvSpPr/>
          <p:nvPr/>
        </p:nvSpPr>
        <p:spPr>
          <a:xfrm>
            <a:off x="6985102" y="4999939"/>
            <a:ext cx="510235" cy="174650"/>
          </a:xfrm>
          <a:prstGeom prst="roundRect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62" name="Text 354"/>
          <p:cNvSpPr/>
          <p:nvPr/>
        </p:nvSpPr>
        <p:spPr>
          <a:xfrm>
            <a:off x="7014362" y="5028286"/>
            <a:ext cx="451714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20" dirty="0"/>
          </a:p>
        </p:txBody>
      </p:sp>
      <p:sp>
        <p:nvSpPr>
          <p:cNvPr id="363" name="Shape 355"/>
          <p:cNvSpPr/>
          <p:nvPr/>
        </p:nvSpPr>
        <p:spPr>
          <a:xfrm>
            <a:off x="174650" y="5174590"/>
            <a:ext cx="233172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408737" y="5174590"/>
            <a:ext cx="948233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1356055" y="5174590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1997964" y="5174590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39873" y="5174590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3280867" y="5174590"/>
            <a:ext cx="539496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3821278" y="5174590"/>
            <a:ext cx="1297534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70" name="Shape 362"/>
          <p:cNvSpPr/>
          <p:nvPr/>
        </p:nvSpPr>
        <p:spPr>
          <a:xfrm>
            <a:off x="5118811" y="5174590"/>
            <a:ext cx="1297534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71" name="Shape 363"/>
          <p:cNvSpPr/>
          <p:nvPr/>
        </p:nvSpPr>
        <p:spPr>
          <a:xfrm>
            <a:off x="6416345" y="5174590"/>
            <a:ext cx="568757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72" name="Shape 364"/>
          <p:cNvSpPr/>
          <p:nvPr/>
        </p:nvSpPr>
        <p:spPr>
          <a:xfrm>
            <a:off x="6985102" y="5174590"/>
            <a:ext cx="510235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73" name="Text 365"/>
          <p:cNvSpPr/>
          <p:nvPr/>
        </p:nvSpPr>
        <p:spPr>
          <a:xfrm>
            <a:off x="174650" y="5211166"/>
            <a:ext cx="23317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0" dirty="0"/>
          </a:p>
        </p:txBody>
      </p:sp>
      <p:sp>
        <p:nvSpPr>
          <p:cNvPr id="374" name="Text 366"/>
          <p:cNvSpPr/>
          <p:nvPr/>
        </p:nvSpPr>
        <p:spPr>
          <a:xfrm>
            <a:off x="480974" y="5211166"/>
            <a:ext cx="86045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Drift</a:t>
            </a:r>
            <a:endParaRPr lang="en-US" sz="740" dirty="0"/>
          </a:p>
        </p:txBody>
      </p:sp>
      <p:sp>
        <p:nvSpPr>
          <p:cNvPr id="375" name="Text 367"/>
          <p:cNvSpPr/>
          <p:nvPr/>
        </p:nvSpPr>
        <p:spPr>
          <a:xfrm>
            <a:off x="1414577" y="5211166"/>
            <a:ext cx="56875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740" dirty="0"/>
          </a:p>
        </p:txBody>
      </p:sp>
      <p:sp>
        <p:nvSpPr>
          <p:cNvPr id="376" name="Shape 368"/>
          <p:cNvSpPr/>
          <p:nvPr/>
        </p:nvSpPr>
        <p:spPr>
          <a:xfrm>
            <a:off x="2143354" y="5240426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2238451" y="5240426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2333549" y="5240426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2427732" y="5240426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80" name="Shape 372"/>
          <p:cNvSpPr/>
          <p:nvPr/>
        </p:nvSpPr>
        <p:spPr>
          <a:xfrm>
            <a:off x="2522830" y="5240426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81" name="Shape 373"/>
          <p:cNvSpPr/>
          <p:nvPr/>
        </p:nvSpPr>
        <p:spPr>
          <a:xfrm>
            <a:off x="2785262" y="5240426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2880360" y="5240426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2975458" y="5240426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069641" y="5240426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164738" y="5240426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3485693" y="5203850"/>
            <a:ext cx="233172" cy="145390"/>
          </a:xfrm>
          <a:prstGeom prst="roundRect">
            <a:avLst>
              <a:gd name="adj" fmla="val 15094"/>
            </a:avLst>
          </a:prstGeom>
          <a:solidFill>
            <a:srgbClr val="110F13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87" name="Text 379"/>
          <p:cNvSpPr/>
          <p:nvPr/>
        </p:nvSpPr>
        <p:spPr>
          <a:xfrm>
            <a:off x="3485693" y="5225796"/>
            <a:ext cx="233172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20" dirty="0"/>
          </a:p>
        </p:txBody>
      </p:sp>
      <p:sp>
        <p:nvSpPr>
          <p:cNvPr id="388" name="Text 380"/>
          <p:cNvSpPr/>
          <p:nvPr/>
        </p:nvSpPr>
        <p:spPr>
          <a:xfrm>
            <a:off x="3981298" y="5211166"/>
            <a:ext cx="1196035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 variance up, calibration due</a:t>
            </a:r>
            <a:endParaRPr lang="en-US" sz="690" dirty="0"/>
          </a:p>
        </p:txBody>
      </p:sp>
      <p:sp>
        <p:nvSpPr>
          <p:cNvPr id="389" name="Text 381"/>
          <p:cNvSpPr/>
          <p:nvPr/>
        </p:nvSpPr>
        <p:spPr>
          <a:xfrm>
            <a:off x="5278831" y="5211166"/>
            <a:ext cx="121066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sensors, enforce cadence</a:t>
            </a:r>
            <a:endParaRPr lang="en-US" sz="690" dirty="0"/>
          </a:p>
        </p:txBody>
      </p:sp>
      <p:sp>
        <p:nvSpPr>
          <p:cNvPr id="390" name="Text 382"/>
          <p:cNvSpPr/>
          <p:nvPr/>
        </p:nvSpPr>
        <p:spPr>
          <a:xfrm>
            <a:off x="6650431" y="5211166"/>
            <a:ext cx="40873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</a:t>
            </a:r>
            <a:endParaRPr lang="en-US" sz="710" dirty="0"/>
          </a:p>
        </p:txBody>
      </p:sp>
      <p:sp>
        <p:nvSpPr>
          <p:cNvPr id="391" name="Shape 383"/>
          <p:cNvSpPr/>
          <p:nvPr/>
        </p:nvSpPr>
        <p:spPr>
          <a:xfrm>
            <a:off x="6955841" y="5211166"/>
            <a:ext cx="408737" cy="130759"/>
          </a:xfrm>
          <a:prstGeom prst="roundRect">
            <a:avLst>
              <a:gd name="adj" fmla="val 16783"/>
            </a:avLst>
          </a:prstGeom>
          <a:solidFill>
            <a:srgbClr val="5B4100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392" name="Text 384"/>
          <p:cNvSpPr/>
          <p:nvPr/>
        </p:nvSpPr>
        <p:spPr>
          <a:xfrm>
            <a:off x="6970471" y="5233111"/>
            <a:ext cx="3794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660" dirty="0"/>
          </a:p>
        </p:txBody>
      </p:sp>
      <p:sp>
        <p:nvSpPr>
          <p:cNvPr id="393" name="Shape 385"/>
          <p:cNvSpPr/>
          <p:nvPr/>
        </p:nvSpPr>
        <p:spPr>
          <a:xfrm>
            <a:off x="174650" y="5378501"/>
            <a:ext cx="233172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08737" y="5378501"/>
            <a:ext cx="948233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1356055" y="5378501"/>
            <a:ext cx="641909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1997964" y="5378501"/>
            <a:ext cx="641909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2639873" y="5378501"/>
            <a:ext cx="641909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98" name="Shape 390"/>
          <p:cNvSpPr/>
          <p:nvPr/>
        </p:nvSpPr>
        <p:spPr>
          <a:xfrm>
            <a:off x="3280867" y="5378501"/>
            <a:ext cx="539496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399" name="Shape 391"/>
          <p:cNvSpPr/>
          <p:nvPr/>
        </p:nvSpPr>
        <p:spPr>
          <a:xfrm>
            <a:off x="3821278" y="5378501"/>
            <a:ext cx="1297534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00" name="Shape 392"/>
          <p:cNvSpPr/>
          <p:nvPr/>
        </p:nvSpPr>
        <p:spPr>
          <a:xfrm>
            <a:off x="5118811" y="5378501"/>
            <a:ext cx="1297534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01" name="Shape 393"/>
          <p:cNvSpPr/>
          <p:nvPr/>
        </p:nvSpPr>
        <p:spPr>
          <a:xfrm>
            <a:off x="6416345" y="5378501"/>
            <a:ext cx="568757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6985102" y="5378501"/>
            <a:ext cx="510235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03" name="Text 395"/>
          <p:cNvSpPr/>
          <p:nvPr/>
        </p:nvSpPr>
        <p:spPr>
          <a:xfrm>
            <a:off x="174650" y="5415077"/>
            <a:ext cx="23317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80" dirty="0"/>
          </a:p>
        </p:txBody>
      </p:sp>
      <p:sp>
        <p:nvSpPr>
          <p:cNvPr id="404" name="Text 396"/>
          <p:cNvSpPr/>
          <p:nvPr/>
        </p:nvSpPr>
        <p:spPr>
          <a:xfrm>
            <a:off x="480974" y="5415077"/>
            <a:ext cx="86045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Degradation</a:t>
            </a:r>
            <a:endParaRPr lang="en-US" sz="740" dirty="0"/>
          </a:p>
        </p:txBody>
      </p:sp>
      <p:sp>
        <p:nvSpPr>
          <p:cNvPr id="405" name="Text 397"/>
          <p:cNvSpPr/>
          <p:nvPr/>
        </p:nvSpPr>
        <p:spPr>
          <a:xfrm>
            <a:off x="1414577" y="5415077"/>
            <a:ext cx="56875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</a:t>
            </a:r>
            <a:endParaRPr lang="en-US" sz="740" dirty="0"/>
          </a:p>
        </p:txBody>
      </p:sp>
      <p:sp>
        <p:nvSpPr>
          <p:cNvPr id="406" name="Shape 398"/>
          <p:cNvSpPr/>
          <p:nvPr/>
        </p:nvSpPr>
        <p:spPr>
          <a:xfrm>
            <a:off x="2143354" y="5444338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2238451" y="5444338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08" name="Shape 400"/>
          <p:cNvSpPr/>
          <p:nvPr/>
        </p:nvSpPr>
        <p:spPr>
          <a:xfrm>
            <a:off x="2333549" y="5444338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09" name="Shape 401"/>
          <p:cNvSpPr/>
          <p:nvPr/>
        </p:nvSpPr>
        <p:spPr>
          <a:xfrm>
            <a:off x="2427732" y="5444338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10" name="Shape 402"/>
          <p:cNvSpPr/>
          <p:nvPr/>
        </p:nvSpPr>
        <p:spPr>
          <a:xfrm>
            <a:off x="2522830" y="5444338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11" name="Shape 403"/>
          <p:cNvSpPr/>
          <p:nvPr/>
        </p:nvSpPr>
        <p:spPr>
          <a:xfrm>
            <a:off x="2785262" y="5444338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12" name="Shape 404"/>
          <p:cNvSpPr/>
          <p:nvPr/>
        </p:nvSpPr>
        <p:spPr>
          <a:xfrm>
            <a:off x="2880360" y="5444338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13" name="Shape 405"/>
          <p:cNvSpPr/>
          <p:nvPr/>
        </p:nvSpPr>
        <p:spPr>
          <a:xfrm>
            <a:off x="2975458" y="5444338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14" name="Shape 406"/>
          <p:cNvSpPr/>
          <p:nvPr/>
        </p:nvSpPr>
        <p:spPr>
          <a:xfrm>
            <a:off x="3069641" y="5444338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15" name="Shape 407"/>
          <p:cNvSpPr/>
          <p:nvPr/>
        </p:nvSpPr>
        <p:spPr>
          <a:xfrm>
            <a:off x="3164738" y="5444338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16" name="Shape 408"/>
          <p:cNvSpPr/>
          <p:nvPr/>
        </p:nvSpPr>
        <p:spPr>
          <a:xfrm>
            <a:off x="3485693" y="5407762"/>
            <a:ext cx="233172" cy="145390"/>
          </a:xfrm>
          <a:prstGeom prst="roundRect">
            <a:avLst>
              <a:gd name="adj" fmla="val 15094"/>
            </a:avLst>
          </a:prstGeom>
          <a:solidFill>
            <a:srgbClr val="110F13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17" name="Text 409"/>
          <p:cNvSpPr/>
          <p:nvPr/>
        </p:nvSpPr>
        <p:spPr>
          <a:xfrm>
            <a:off x="3485693" y="5429707"/>
            <a:ext cx="233172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20" dirty="0"/>
          </a:p>
        </p:txBody>
      </p:sp>
      <p:sp>
        <p:nvSpPr>
          <p:cNvPr id="418" name="Text 410"/>
          <p:cNvSpPr/>
          <p:nvPr/>
        </p:nvSpPr>
        <p:spPr>
          <a:xfrm>
            <a:off x="3981298" y="5415077"/>
            <a:ext cx="1196035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margin down, vibration up</a:t>
            </a:r>
            <a:endParaRPr lang="en-US" sz="690" dirty="0"/>
          </a:p>
        </p:txBody>
      </p:sp>
      <p:sp>
        <p:nvSpPr>
          <p:cNvPr id="419" name="Text 411"/>
          <p:cNvSpPr/>
          <p:nvPr/>
        </p:nvSpPr>
        <p:spPr>
          <a:xfrm>
            <a:off x="5278831" y="5415077"/>
            <a:ext cx="121066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pump, monitor vibration</a:t>
            </a:r>
            <a:endParaRPr lang="en-US" sz="690" dirty="0"/>
          </a:p>
        </p:txBody>
      </p:sp>
      <p:sp>
        <p:nvSpPr>
          <p:cNvPr id="420" name="Text 412"/>
          <p:cNvSpPr/>
          <p:nvPr/>
        </p:nvSpPr>
        <p:spPr>
          <a:xfrm>
            <a:off x="6650431" y="5415077"/>
            <a:ext cx="40873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Ops</a:t>
            </a:r>
            <a:endParaRPr lang="en-US" sz="710" dirty="0"/>
          </a:p>
        </p:txBody>
      </p:sp>
      <p:sp>
        <p:nvSpPr>
          <p:cNvPr id="421" name="Shape 413"/>
          <p:cNvSpPr/>
          <p:nvPr/>
        </p:nvSpPr>
        <p:spPr>
          <a:xfrm>
            <a:off x="6955841" y="5415077"/>
            <a:ext cx="408737" cy="130759"/>
          </a:xfrm>
          <a:prstGeom prst="roundRect">
            <a:avLst>
              <a:gd name="adj" fmla="val 16783"/>
            </a:avLst>
          </a:prstGeom>
          <a:solidFill>
            <a:srgbClr val="5B4100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22" name="Text 414"/>
          <p:cNvSpPr/>
          <p:nvPr/>
        </p:nvSpPr>
        <p:spPr>
          <a:xfrm>
            <a:off x="6970471" y="5437022"/>
            <a:ext cx="3794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660" dirty="0"/>
          </a:p>
        </p:txBody>
      </p:sp>
      <p:sp>
        <p:nvSpPr>
          <p:cNvPr id="423" name="Shape 415"/>
          <p:cNvSpPr/>
          <p:nvPr/>
        </p:nvSpPr>
        <p:spPr>
          <a:xfrm>
            <a:off x="174650" y="5582412"/>
            <a:ext cx="233172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24" name="Shape 416"/>
          <p:cNvSpPr/>
          <p:nvPr/>
        </p:nvSpPr>
        <p:spPr>
          <a:xfrm>
            <a:off x="408737" y="5582412"/>
            <a:ext cx="948233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25" name="Shape 417"/>
          <p:cNvSpPr/>
          <p:nvPr/>
        </p:nvSpPr>
        <p:spPr>
          <a:xfrm>
            <a:off x="1356055" y="5582412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26" name="Shape 418"/>
          <p:cNvSpPr/>
          <p:nvPr/>
        </p:nvSpPr>
        <p:spPr>
          <a:xfrm>
            <a:off x="1997964" y="5582412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27" name="Shape 419"/>
          <p:cNvSpPr/>
          <p:nvPr/>
        </p:nvSpPr>
        <p:spPr>
          <a:xfrm>
            <a:off x="2639873" y="5582412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28" name="Shape 420"/>
          <p:cNvSpPr/>
          <p:nvPr/>
        </p:nvSpPr>
        <p:spPr>
          <a:xfrm>
            <a:off x="3280867" y="5582412"/>
            <a:ext cx="539496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29" name="Shape 421"/>
          <p:cNvSpPr/>
          <p:nvPr/>
        </p:nvSpPr>
        <p:spPr>
          <a:xfrm>
            <a:off x="3821278" y="5582412"/>
            <a:ext cx="1297534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30" name="Shape 422"/>
          <p:cNvSpPr/>
          <p:nvPr/>
        </p:nvSpPr>
        <p:spPr>
          <a:xfrm>
            <a:off x="5118811" y="5582412"/>
            <a:ext cx="1297534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31" name="Shape 423"/>
          <p:cNvSpPr/>
          <p:nvPr/>
        </p:nvSpPr>
        <p:spPr>
          <a:xfrm>
            <a:off x="6416345" y="5582412"/>
            <a:ext cx="568757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32" name="Shape 424"/>
          <p:cNvSpPr/>
          <p:nvPr/>
        </p:nvSpPr>
        <p:spPr>
          <a:xfrm>
            <a:off x="6985102" y="5582412"/>
            <a:ext cx="510235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33" name="Text 425"/>
          <p:cNvSpPr/>
          <p:nvPr/>
        </p:nvSpPr>
        <p:spPr>
          <a:xfrm>
            <a:off x="174650" y="5618988"/>
            <a:ext cx="23317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0" dirty="0"/>
          </a:p>
        </p:txBody>
      </p:sp>
      <p:sp>
        <p:nvSpPr>
          <p:cNvPr id="434" name="Text 426"/>
          <p:cNvSpPr/>
          <p:nvPr/>
        </p:nvSpPr>
        <p:spPr>
          <a:xfrm>
            <a:off x="480974" y="5618988"/>
            <a:ext cx="86045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Return Temp</a:t>
            </a:r>
            <a:endParaRPr lang="en-US" sz="740" dirty="0"/>
          </a:p>
        </p:txBody>
      </p:sp>
      <p:sp>
        <p:nvSpPr>
          <p:cNvPr id="435" name="Text 427"/>
          <p:cNvSpPr/>
          <p:nvPr/>
        </p:nvSpPr>
        <p:spPr>
          <a:xfrm>
            <a:off x="1414577" y="5618988"/>
            <a:ext cx="56875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740" dirty="0"/>
          </a:p>
        </p:txBody>
      </p:sp>
      <p:sp>
        <p:nvSpPr>
          <p:cNvPr id="436" name="Shape 428"/>
          <p:cNvSpPr/>
          <p:nvPr/>
        </p:nvSpPr>
        <p:spPr>
          <a:xfrm>
            <a:off x="2143354" y="5648249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37" name="Shape 429"/>
          <p:cNvSpPr/>
          <p:nvPr/>
        </p:nvSpPr>
        <p:spPr>
          <a:xfrm>
            <a:off x="2238451" y="5648249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38" name="Shape 430"/>
          <p:cNvSpPr/>
          <p:nvPr/>
        </p:nvSpPr>
        <p:spPr>
          <a:xfrm>
            <a:off x="2333549" y="5648249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39" name="Shape 431"/>
          <p:cNvSpPr/>
          <p:nvPr/>
        </p:nvSpPr>
        <p:spPr>
          <a:xfrm>
            <a:off x="2427732" y="5648249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40" name="Shape 432"/>
          <p:cNvSpPr/>
          <p:nvPr/>
        </p:nvSpPr>
        <p:spPr>
          <a:xfrm>
            <a:off x="2522830" y="5648249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41" name="Shape 433"/>
          <p:cNvSpPr/>
          <p:nvPr/>
        </p:nvSpPr>
        <p:spPr>
          <a:xfrm>
            <a:off x="2785262" y="5648249"/>
            <a:ext cx="65837" cy="65837"/>
          </a:xfrm>
          <a:prstGeom prst="ellipse">
            <a:avLst/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442" name="Shape 434"/>
          <p:cNvSpPr/>
          <p:nvPr/>
        </p:nvSpPr>
        <p:spPr>
          <a:xfrm>
            <a:off x="2880360" y="5648249"/>
            <a:ext cx="65837" cy="65837"/>
          </a:xfrm>
          <a:prstGeom prst="ellipse">
            <a:avLst/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443" name="Shape 435"/>
          <p:cNvSpPr/>
          <p:nvPr/>
        </p:nvSpPr>
        <p:spPr>
          <a:xfrm>
            <a:off x="2975458" y="5648249"/>
            <a:ext cx="65837" cy="65837"/>
          </a:xfrm>
          <a:prstGeom prst="ellipse">
            <a:avLst/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444" name="Shape 436"/>
          <p:cNvSpPr/>
          <p:nvPr/>
        </p:nvSpPr>
        <p:spPr>
          <a:xfrm>
            <a:off x="3069641" y="5648249"/>
            <a:ext cx="65837" cy="65837"/>
          </a:xfrm>
          <a:prstGeom prst="ellipse">
            <a:avLst/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445" name="Shape 437"/>
          <p:cNvSpPr/>
          <p:nvPr/>
        </p:nvSpPr>
        <p:spPr>
          <a:xfrm>
            <a:off x="3164738" y="5648249"/>
            <a:ext cx="65837" cy="65837"/>
          </a:xfrm>
          <a:prstGeom prst="ellipse">
            <a:avLst/>
          </a:prstGeom>
          <a:solidFill>
            <a:srgbClr val="F05045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446" name="Shape 438"/>
          <p:cNvSpPr/>
          <p:nvPr/>
        </p:nvSpPr>
        <p:spPr>
          <a:xfrm>
            <a:off x="3485693" y="5611673"/>
            <a:ext cx="233172" cy="145390"/>
          </a:xfrm>
          <a:prstGeom prst="roundRect">
            <a:avLst>
              <a:gd name="adj" fmla="val 15094"/>
            </a:avLst>
          </a:prstGeom>
          <a:solidFill>
            <a:srgbClr val="110F13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447" name="Text 439"/>
          <p:cNvSpPr/>
          <p:nvPr/>
        </p:nvSpPr>
        <p:spPr>
          <a:xfrm>
            <a:off x="3485693" y="5633618"/>
            <a:ext cx="233172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0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20" dirty="0"/>
          </a:p>
        </p:txBody>
      </p:sp>
      <p:sp>
        <p:nvSpPr>
          <p:cNvPr id="448" name="Text 440"/>
          <p:cNvSpPr/>
          <p:nvPr/>
        </p:nvSpPr>
        <p:spPr>
          <a:xfrm>
            <a:off x="3981298" y="5618988"/>
            <a:ext cx="1196035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temp up, headroom down</a:t>
            </a:r>
            <a:endParaRPr lang="en-US" sz="690" dirty="0"/>
          </a:p>
        </p:txBody>
      </p:sp>
      <p:sp>
        <p:nvSpPr>
          <p:cNvPr id="449" name="Text 441"/>
          <p:cNvSpPr/>
          <p:nvPr/>
        </p:nvSpPr>
        <p:spPr>
          <a:xfrm>
            <a:off x="5278831" y="5618988"/>
            <a:ext cx="121066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flow, check load balance</a:t>
            </a:r>
            <a:endParaRPr lang="en-US" sz="690" dirty="0"/>
          </a:p>
        </p:txBody>
      </p:sp>
      <p:sp>
        <p:nvSpPr>
          <p:cNvPr id="450" name="Text 442"/>
          <p:cNvSpPr/>
          <p:nvPr/>
        </p:nvSpPr>
        <p:spPr>
          <a:xfrm>
            <a:off x="6650431" y="5618988"/>
            <a:ext cx="40873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Ops</a:t>
            </a:r>
            <a:endParaRPr lang="en-US" sz="710" dirty="0"/>
          </a:p>
        </p:txBody>
      </p:sp>
      <p:sp>
        <p:nvSpPr>
          <p:cNvPr id="451" name="Shape 443"/>
          <p:cNvSpPr/>
          <p:nvPr/>
        </p:nvSpPr>
        <p:spPr>
          <a:xfrm>
            <a:off x="6955841" y="5618988"/>
            <a:ext cx="408737" cy="130759"/>
          </a:xfrm>
          <a:prstGeom prst="roundRect">
            <a:avLst>
              <a:gd name="adj" fmla="val 16783"/>
            </a:avLst>
          </a:prstGeom>
          <a:solidFill>
            <a:srgbClr val="6B1C1B"/>
          </a:solidFill>
          <a:ln w="7290">
            <a:solidFill>
              <a:srgbClr val="F05045"/>
            </a:solidFill>
            <a:prstDash val="solid"/>
          </a:ln>
        </p:spPr>
      </p:sp>
      <p:sp>
        <p:nvSpPr>
          <p:cNvPr id="452" name="Text 444"/>
          <p:cNvSpPr/>
          <p:nvPr/>
        </p:nvSpPr>
        <p:spPr>
          <a:xfrm>
            <a:off x="6970471" y="5640934"/>
            <a:ext cx="3794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60" dirty="0"/>
          </a:p>
        </p:txBody>
      </p:sp>
      <p:sp>
        <p:nvSpPr>
          <p:cNvPr id="453" name="Shape 445"/>
          <p:cNvSpPr/>
          <p:nvPr/>
        </p:nvSpPr>
        <p:spPr>
          <a:xfrm>
            <a:off x="174650" y="5786323"/>
            <a:ext cx="233172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54" name="Shape 446"/>
          <p:cNvSpPr/>
          <p:nvPr/>
        </p:nvSpPr>
        <p:spPr>
          <a:xfrm>
            <a:off x="408737" y="5786323"/>
            <a:ext cx="948233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55" name="Shape 447"/>
          <p:cNvSpPr/>
          <p:nvPr/>
        </p:nvSpPr>
        <p:spPr>
          <a:xfrm>
            <a:off x="1356055" y="5786323"/>
            <a:ext cx="641909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56" name="Shape 448"/>
          <p:cNvSpPr/>
          <p:nvPr/>
        </p:nvSpPr>
        <p:spPr>
          <a:xfrm>
            <a:off x="1997964" y="5786323"/>
            <a:ext cx="641909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57" name="Shape 449"/>
          <p:cNvSpPr/>
          <p:nvPr/>
        </p:nvSpPr>
        <p:spPr>
          <a:xfrm>
            <a:off x="2639873" y="5786323"/>
            <a:ext cx="641909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58" name="Shape 450"/>
          <p:cNvSpPr/>
          <p:nvPr/>
        </p:nvSpPr>
        <p:spPr>
          <a:xfrm>
            <a:off x="3280867" y="5786323"/>
            <a:ext cx="539496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59" name="Shape 451"/>
          <p:cNvSpPr/>
          <p:nvPr/>
        </p:nvSpPr>
        <p:spPr>
          <a:xfrm>
            <a:off x="3821278" y="5786323"/>
            <a:ext cx="1297534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60" name="Shape 452"/>
          <p:cNvSpPr/>
          <p:nvPr/>
        </p:nvSpPr>
        <p:spPr>
          <a:xfrm>
            <a:off x="5118811" y="5786323"/>
            <a:ext cx="1297534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61" name="Shape 453"/>
          <p:cNvSpPr/>
          <p:nvPr/>
        </p:nvSpPr>
        <p:spPr>
          <a:xfrm>
            <a:off x="6416345" y="5786323"/>
            <a:ext cx="568757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62" name="Shape 454"/>
          <p:cNvSpPr/>
          <p:nvPr/>
        </p:nvSpPr>
        <p:spPr>
          <a:xfrm>
            <a:off x="6985102" y="5786323"/>
            <a:ext cx="510235" cy="203911"/>
          </a:xfrm>
          <a:prstGeom prst="roundRect">
            <a:avLst/>
          </a:prstGeom>
          <a:solidFill>
            <a:srgbClr val="07192B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63" name="Text 455"/>
          <p:cNvSpPr/>
          <p:nvPr/>
        </p:nvSpPr>
        <p:spPr>
          <a:xfrm>
            <a:off x="174650" y="5822899"/>
            <a:ext cx="23317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0" dirty="0"/>
          </a:p>
        </p:txBody>
      </p:sp>
      <p:sp>
        <p:nvSpPr>
          <p:cNvPr id="464" name="Text 456"/>
          <p:cNvSpPr/>
          <p:nvPr/>
        </p:nvSpPr>
        <p:spPr>
          <a:xfrm>
            <a:off x="480974" y="5822899"/>
            <a:ext cx="86045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Flow Filter Clog</a:t>
            </a:r>
            <a:endParaRPr lang="en-US" sz="740" dirty="0"/>
          </a:p>
        </p:txBody>
      </p:sp>
      <p:sp>
        <p:nvSpPr>
          <p:cNvPr id="465" name="Text 457"/>
          <p:cNvSpPr/>
          <p:nvPr/>
        </p:nvSpPr>
        <p:spPr>
          <a:xfrm>
            <a:off x="1414577" y="5822899"/>
            <a:ext cx="56875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740" dirty="0"/>
          </a:p>
        </p:txBody>
      </p:sp>
      <p:sp>
        <p:nvSpPr>
          <p:cNvPr id="466" name="Shape 458"/>
          <p:cNvSpPr/>
          <p:nvPr/>
        </p:nvSpPr>
        <p:spPr>
          <a:xfrm>
            <a:off x="2143354" y="5852160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67" name="Shape 459"/>
          <p:cNvSpPr/>
          <p:nvPr/>
        </p:nvSpPr>
        <p:spPr>
          <a:xfrm>
            <a:off x="2238451" y="5852160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68" name="Shape 460"/>
          <p:cNvSpPr/>
          <p:nvPr/>
        </p:nvSpPr>
        <p:spPr>
          <a:xfrm>
            <a:off x="2333549" y="5852160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69" name="Shape 461"/>
          <p:cNvSpPr/>
          <p:nvPr/>
        </p:nvSpPr>
        <p:spPr>
          <a:xfrm>
            <a:off x="2427732" y="5852160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70" name="Shape 462"/>
          <p:cNvSpPr/>
          <p:nvPr/>
        </p:nvSpPr>
        <p:spPr>
          <a:xfrm>
            <a:off x="2522830" y="5852160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71" name="Shape 463"/>
          <p:cNvSpPr/>
          <p:nvPr/>
        </p:nvSpPr>
        <p:spPr>
          <a:xfrm>
            <a:off x="2785262" y="5852160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72" name="Shape 464"/>
          <p:cNvSpPr/>
          <p:nvPr/>
        </p:nvSpPr>
        <p:spPr>
          <a:xfrm>
            <a:off x="2880360" y="5852160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73" name="Shape 465"/>
          <p:cNvSpPr/>
          <p:nvPr/>
        </p:nvSpPr>
        <p:spPr>
          <a:xfrm>
            <a:off x="2975458" y="5852160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74" name="Shape 466"/>
          <p:cNvSpPr/>
          <p:nvPr/>
        </p:nvSpPr>
        <p:spPr>
          <a:xfrm>
            <a:off x="3069641" y="5852160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75" name="Shape 467"/>
          <p:cNvSpPr/>
          <p:nvPr/>
        </p:nvSpPr>
        <p:spPr>
          <a:xfrm>
            <a:off x="3164738" y="5852160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76" name="Shape 468"/>
          <p:cNvSpPr/>
          <p:nvPr/>
        </p:nvSpPr>
        <p:spPr>
          <a:xfrm>
            <a:off x="3485693" y="5815584"/>
            <a:ext cx="233172" cy="145390"/>
          </a:xfrm>
          <a:prstGeom prst="roundRect">
            <a:avLst>
              <a:gd name="adj" fmla="val 15094"/>
            </a:avLst>
          </a:prstGeom>
          <a:solidFill>
            <a:srgbClr val="110F13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77" name="Text 469"/>
          <p:cNvSpPr/>
          <p:nvPr/>
        </p:nvSpPr>
        <p:spPr>
          <a:xfrm>
            <a:off x="3485693" y="5837530"/>
            <a:ext cx="233172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20" dirty="0"/>
          </a:p>
        </p:txBody>
      </p:sp>
      <p:sp>
        <p:nvSpPr>
          <p:cNvPr id="478" name="Text 470"/>
          <p:cNvSpPr/>
          <p:nvPr/>
        </p:nvSpPr>
        <p:spPr>
          <a:xfrm>
            <a:off x="3981298" y="5822899"/>
            <a:ext cx="1196035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across filter up, flow down</a:t>
            </a:r>
            <a:endParaRPr lang="en-US" sz="690" dirty="0"/>
          </a:p>
        </p:txBody>
      </p:sp>
      <p:sp>
        <p:nvSpPr>
          <p:cNvPr id="479" name="Text 471"/>
          <p:cNvSpPr/>
          <p:nvPr/>
        </p:nvSpPr>
        <p:spPr>
          <a:xfrm>
            <a:off x="5278831" y="5822899"/>
            <a:ext cx="121066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Clean/replace filters</a:t>
            </a:r>
            <a:endParaRPr lang="en-US" sz="690" dirty="0"/>
          </a:p>
        </p:txBody>
      </p:sp>
      <p:sp>
        <p:nvSpPr>
          <p:cNvPr id="480" name="Text 472"/>
          <p:cNvSpPr/>
          <p:nvPr/>
        </p:nvSpPr>
        <p:spPr>
          <a:xfrm>
            <a:off x="6650431" y="5822899"/>
            <a:ext cx="40873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</a:t>
            </a:r>
            <a:endParaRPr lang="en-US" sz="710" dirty="0"/>
          </a:p>
        </p:txBody>
      </p:sp>
      <p:sp>
        <p:nvSpPr>
          <p:cNvPr id="481" name="Shape 473"/>
          <p:cNvSpPr/>
          <p:nvPr/>
        </p:nvSpPr>
        <p:spPr>
          <a:xfrm>
            <a:off x="6955841" y="5822899"/>
            <a:ext cx="408737" cy="130759"/>
          </a:xfrm>
          <a:prstGeom prst="roundRect">
            <a:avLst>
              <a:gd name="adj" fmla="val 16783"/>
            </a:avLst>
          </a:prstGeom>
          <a:solidFill>
            <a:srgbClr val="5B4100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82" name="Text 474"/>
          <p:cNvSpPr/>
          <p:nvPr/>
        </p:nvSpPr>
        <p:spPr>
          <a:xfrm>
            <a:off x="6970471" y="5844845"/>
            <a:ext cx="3794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660" dirty="0"/>
          </a:p>
        </p:txBody>
      </p:sp>
      <p:sp>
        <p:nvSpPr>
          <p:cNvPr id="483" name="Shape 475"/>
          <p:cNvSpPr/>
          <p:nvPr/>
        </p:nvSpPr>
        <p:spPr>
          <a:xfrm>
            <a:off x="174650" y="5991149"/>
            <a:ext cx="233172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84" name="Shape 476"/>
          <p:cNvSpPr/>
          <p:nvPr/>
        </p:nvSpPr>
        <p:spPr>
          <a:xfrm>
            <a:off x="408737" y="5991149"/>
            <a:ext cx="948233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85" name="Shape 477"/>
          <p:cNvSpPr/>
          <p:nvPr/>
        </p:nvSpPr>
        <p:spPr>
          <a:xfrm>
            <a:off x="1356055" y="5991149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86" name="Shape 478"/>
          <p:cNvSpPr/>
          <p:nvPr/>
        </p:nvSpPr>
        <p:spPr>
          <a:xfrm>
            <a:off x="1997964" y="5991149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87" name="Shape 479"/>
          <p:cNvSpPr/>
          <p:nvPr/>
        </p:nvSpPr>
        <p:spPr>
          <a:xfrm>
            <a:off x="2639873" y="5991149"/>
            <a:ext cx="641909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88" name="Shape 480"/>
          <p:cNvSpPr/>
          <p:nvPr/>
        </p:nvSpPr>
        <p:spPr>
          <a:xfrm>
            <a:off x="3280867" y="5991149"/>
            <a:ext cx="539496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89" name="Shape 481"/>
          <p:cNvSpPr/>
          <p:nvPr/>
        </p:nvSpPr>
        <p:spPr>
          <a:xfrm>
            <a:off x="3821278" y="5991149"/>
            <a:ext cx="1297534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90" name="Shape 482"/>
          <p:cNvSpPr/>
          <p:nvPr/>
        </p:nvSpPr>
        <p:spPr>
          <a:xfrm>
            <a:off x="5118811" y="5991149"/>
            <a:ext cx="1297534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91" name="Shape 483"/>
          <p:cNvSpPr/>
          <p:nvPr/>
        </p:nvSpPr>
        <p:spPr>
          <a:xfrm>
            <a:off x="6416345" y="5991149"/>
            <a:ext cx="568757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92" name="Shape 484"/>
          <p:cNvSpPr/>
          <p:nvPr/>
        </p:nvSpPr>
        <p:spPr>
          <a:xfrm>
            <a:off x="6985102" y="5991149"/>
            <a:ext cx="510235" cy="203911"/>
          </a:xfrm>
          <a:prstGeom prst="roundRect">
            <a:avLst/>
          </a:prstGeom>
          <a:solidFill>
            <a:srgbClr val="061323"/>
          </a:solidFill>
          <a:ln w="5105">
            <a:solidFill>
              <a:srgbClr val="2E5577"/>
            </a:solidFill>
            <a:prstDash val="solid"/>
          </a:ln>
        </p:spPr>
      </p:sp>
      <p:sp>
        <p:nvSpPr>
          <p:cNvPr id="493" name="Text 485"/>
          <p:cNvSpPr/>
          <p:nvPr/>
        </p:nvSpPr>
        <p:spPr>
          <a:xfrm>
            <a:off x="174650" y="6026810"/>
            <a:ext cx="233172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80" dirty="0"/>
          </a:p>
        </p:txBody>
      </p:sp>
      <p:sp>
        <p:nvSpPr>
          <p:cNvPr id="494" name="Text 486"/>
          <p:cNvSpPr/>
          <p:nvPr/>
        </p:nvSpPr>
        <p:spPr>
          <a:xfrm>
            <a:off x="480974" y="6026810"/>
            <a:ext cx="860450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 Efficiency Drop</a:t>
            </a:r>
            <a:endParaRPr lang="en-US" sz="740" dirty="0"/>
          </a:p>
        </p:txBody>
      </p:sp>
      <p:sp>
        <p:nvSpPr>
          <p:cNvPr id="495" name="Text 487"/>
          <p:cNvSpPr/>
          <p:nvPr/>
        </p:nvSpPr>
        <p:spPr>
          <a:xfrm>
            <a:off x="1414577" y="6026810"/>
            <a:ext cx="56875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740" dirty="0"/>
          </a:p>
        </p:txBody>
      </p:sp>
      <p:sp>
        <p:nvSpPr>
          <p:cNvPr id="496" name="Shape 488"/>
          <p:cNvSpPr/>
          <p:nvPr/>
        </p:nvSpPr>
        <p:spPr>
          <a:xfrm>
            <a:off x="2143354" y="6056071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97" name="Shape 489"/>
          <p:cNvSpPr/>
          <p:nvPr/>
        </p:nvSpPr>
        <p:spPr>
          <a:xfrm>
            <a:off x="2238451" y="6056071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498" name="Shape 490"/>
          <p:cNvSpPr/>
          <p:nvPr/>
        </p:nvSpPr>
        <p:spPr>
          <a:xfrm>
            <a:off x="2333549" y="6056071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499" name="Shape 491"/>
          <p:cNvSpPr/>
          <p:nvPr/>
        </p:nvSpPr>
        <p:spPr>
          <a:xfrm>
            <a:off x="2427732" y="6056071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00" name="Shape 492"/>
          <p:cNvSpPr/>
          <p:nvPr/>
        </p:nvSpPr>
        <p:spPr>
          <a:xfrm>
            <a:off x="2522830" y="6056071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01" name="Shape 493"/>
          <p:cNvSpPr/>
          <p:nvPr/>
        </p:nvSpPr>
        <p:spPr>
          <a:xfrm>
            <a:off x="2785262" y="6056071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502" name="Shape 494"/>
          <p:cNvSpPr/>
          <p:nvPr/>
        </p:nvSpPr>
        <p:spPr>
          <a:xfrm>
            <a:off x="2880360" y="6056071"/>
            <a:ext cx="65837" cy="65837"/>
          </a:xfrm>
          <a:prstGeom prst="ellipse">
            <a:avLst/>
          </a:prstGeom>
          <a:solidFill>
            <a:srgbClr val="F6B91E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503" name="Shape 495"/>
          <p:cNvSpPr/>
          <p:nvPr/>
        </p:nvSpPr>
        <p:spPr>
          <a:xfrm>
            <a:off x="2975458" y="6056071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04" name="Shape 496"/>
          <p:cNvSpPr/>
          <p:nvPr/>
        </p:nvSpPr>
        <p:spPr>
          <a:xfrm>
            <a:off x="3069641" y="6056071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05" name="Shape 497"/>
          <p:cNvSpPr/>
          <p:nvPr/>
        </p:nvSpPr>
        <p:spPr>
          <a:xfrm>
            <a:off x="3164738" y="6056071"/>
            <a:ext cx="65837" cy="65837"/>
          </a:xfrm>
          <a:prstGeom prst="ellipse">
            <a:avLst/>
          </a:prstGeom>
          <a:solidFill>
            <a:srgbClr val="102438"/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06" name="Shape 498"/>
          <p:cNvSpPr/>
          <p:nvPr/>
        </p:nvSpPr>
        <p:spPr>
          <a:xfrm>
            <a:off x="3485693" y="6019495"/>
            <a:ext cx="233172" cy="145390"/>
          </a:xfrm>
          <a:prstGeom prst="roundRect">
            <a:avLst>
              <a:gd name="adj" fmla="val 15094"/>
            </a:avLst>
          </a:prstGeom>
          <a:solidFill>
            <a:srgbClr val="110F13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507" name="Text 499"/>
          <p:cNvSpPr/>
          <p:nvPr/>
        </p:nvSpPr>
        <p:spPr>
          <a:xfrm>
            <a:off x="3485693" y="6041441"/>
            <a:ext cx="233172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20" dirty="0"/>
          </a:p>
        </p:txBody>
      </p:sp>
      <p:sp>
        <p:nvSpPr>
          <p:cNvPr id="508" name="Text 500"/>
          <p:cNvSpPr/>
          <p:nvPr/>
        </p:nvSpPr>
        <p:spPr>
          <a:xfrm>
            <a:off x="3981298" y="6026810"/>
            <a:ext cx="1196035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 down, kW/ton up</a:t>
            </a:r>
            <a:endParaRPr lang="en-US" sz="690" dirty="0"/>
          </a:p>
        </p:txBody>
      </p:sp>
      <p:sp>
        <p:nvSpPr>
          <p:cNvPr id="509" name="Text 501"/>
          <p:cNvSpPr/>
          <p:nvPr/>
        </p:nvSpPr>
        <p:spPr>
          <a:xfrm>
            <a:off x="5278831" y="6026810"/>
            <a:ext cx="1210666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Condenser clean, setpoint check</a:t>
            </a:r>
            <a:endParaRPr lang="en-US" sz="690" dirty="0"/>
          </a:p>
        </p:txBody>
      </p:sp>
      <p:sp>
        <p:nvSpPr>
          <p:cNvPr id="510" name="Text 502"/>
          <p:cNvSpPr/>
          <p:nvPr/>
        </p:nvSpPr>
        <p:spPr>
          <a:xfrm>
            <a:off x="6650431" y="6026810"/>
            <a:ext cx="408737" cy="10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</a:t>
            </a:r>
            <a:endParaRPr lang="en-US" sz="710" dirty="0"/>
          </a:p>
        </p:txBody>
      </p:sp>
      <p:sp>
        <p:nvSpPr>
          <p:cNvPr id="511" name="Shape 503"/>
          <p:cNvSpPr/>
          <p:nvPr/>
        </p:nvSpPr>
        <p:spPr>
          <a:xfrm>
            <a:off x="6955841" y="6026810"/>
            <a:ext cx="408737" cy="130759"/>
          </a:xfrm>
          <a:prstGeom prst="roundRect">
            <a:avLst>
              <a:gd name="adj" fmla="val 16783"/>
            </a:avLst>
          </a:prstGeom>
          <a:solidFill>
            <a:srgbClr val="5B4100"/>
          </a:solidFill>
          <a:ln w="7290">
            <a:solidFill>
              <a:srgbClr val="F6B91E"/>
            </a:solidFill>
            <a:prstDash val="solid"/>
          </a:ln>
        </p:spPr>
      </p:sp>
      <p:sp>
        <p:nvSpPr>
          <p:cNvPr id="512" name="Text 504"/>
          <p:cNvSpPr/>
          <p:nvPr/>
        </p:nvSpPr>
        <p:spPr>
          <a:xfrm>
            <a:off x="6970471" y="6048756"/>
            <a:ext cx="3794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660" dirty="0"/>
          </a:p>
        </p:txBody>
      </p:sp>
      <p:sp>
        <p:nvSpPr>
          <p:cNvPr id="513" name="Shape 505"/>
          <p:cNvSpPr/>
          <p:nvPr/>
        </p:nvSpPr>
        <p:spPr>
          <a:xfrm>
            <a:off x="7496251" y="4846320"/>
            <a:ext cx="2187245" cy="1384402"/>
          </a:xfrm>
          <a:prstGeom prst="roundRect">
            <a:avLst>
              <a:gd name="adj" fmla="val 4227"/>
            </a:avLst>
          </a:prstGeom>
          <a:solidFill>
            <a:srgbClr val="071A2C">
              <a:alpha val="94000"/>
            </a:srgbClr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14" name="Text 506"/>
          <p:cNvSpPr/>
          <p:nvPr/>
        </p:nvSpPr>
        <p:spPr>
          <a:xfrm>
            <a:off x="7729423" y="4897526"/>
            <a:ext cx="1677010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KPIs (Real-time)</a:t>
            </a:r>
            <a:endParaRPr lang="en-US" sz="1050" dirty="0"/>
          </a:p>
        </p:txBody>
      </p:sp>
      <p:sp>
        <p:nvSpPr>
          <p:cNvPr id="515" name="Text 507"/>
          <p:cNvSpPr/>
          <p:nvPr/>
        </p:nvSpPr>
        <p:spPr>
          <a:xfrm>
            <a:off x="7619695" y="5101438"/>
            <a:ext cx="495605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</a:t>
            </a:r>
            <a:endParaRPr lang="en-US" sz="1000" dirty="0"/>
          </a:p>
        </p:txBody>
      </p:sp>
      <p:sp>
        <p:nvSpPr>
          <p:cNvPr id="516" name="Text 508"/>
          <p:cNvSpPr/>
          <p:nvPr/>
        </p:nvSpPr>
        <p:spPr>
          <a:xfrm>
            <a:off x="8093354" y="5101438"/>
            <a:ext cx="568757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</a:t>
            </a:r>
            <a:endParaRPr lang="en-US" sz="1400" dirty="0"/>
          </a:p>
        </p:txBody>
      </p:sp>
      <p:sp>
        <p:nvSpPr>
          <p:cNvPr id="517" name="Shape 509"/>
          <p:cNvSpPr/>
          <p:nvPr/>
        </p:nvSpPr>
        <p:spPr>
          <a:xfrm>
            <a:off x="8786470" y="5214823"/>
            <a:ext cx="46634" cy="37490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18" name="Shape 510"/>
          <p:cNvSpPr/>
          <p:nvPr/>
        </p:nvSpPr>
        <p:spPr>
          <a:xfrm>
            <a:off x="8833104" y="5236769"/>
            <a:ext cx="46634" cy="15545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19" name="Shape 511"/>
          <p:cNvSpPr/>
          <p:nvPr/>
        </p:nvSpPr>
        <p:spPr>
          <a:xfrm>
            <a:off x="8880653" y="5236769"/>
            <a:ext cx="46634" cy="37490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0" name="Shape 512"/>
          <p:cNvSpPr/>
          <p:nvPr/>
        </p:nvSpPr>
        <p:spPr>
          <a:xfrm>
            <a:off x="8927287" y="5247742"/>
            <a:ext cx="46634" cy="26518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1" name="Shape 513"/>
          <p:cNvSpPr/>
          <p:nvPr/>
        </p:nvSpPr>
        <p:spPr>
          <a:xfrm>
            <a:off x="8973922" y="5221224"/>
            <a:ext cx="46634" cy="26518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2" name="Shape 514"/>
          <p:cNvSpPr/>
          <p:nvPr/>
        </p:nvSpPr>
        <p:spPr>
          <a:xfrm>
            <a:off x="9020556" y="5221224"/>
            <a:ext cx="46634" cy="21946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3" name="Shape 515"/>
          <p:cNvSpPr/>
          <p:nvPr/>
        </p:nvSpPr>
        <p:spPr>
          <a:xfrm>
            <a:off x="9068105" y="5186477"/>
            <a:ext cx="46634" cy="56693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4" name="Shape 516"/>
          <p:cNvSpPr/>
          <p:nvPr/>
        </p:nvSpPr>
        <p:spPr>
          <a:xfrm>
            <a:off x="9114739" y="5186477"/>
            <a:ext cx="46634" cy="17374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5" name="Shape 517"/>
          <p:cNvSpPr/>
          <p:nvPr/>
        </p:nvSpPr>
        <p:spPr>
          <a:xfrm>
            <a:off x="9161374" y="5203850"/>
            <a:ext cx="46634" cy="32918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6" name="Shape 518"/>
          <p:cNvSpPr/>
          <p:nvPr/>
        </p:nvSpPr>
        <p:spPr>
          <a:xfrm>
            <a:off x="9208008" y="5216652"/>
            <a:ext cx="46634" cy="20117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7" name="Shape 519"/>
          <p:cNvSpPr/>
          <p:nvPr/>
        </p:nvSpPr>
        <p:spPr>
          <a:xfrm>
            <a:off x="9255557" y="5177333"/>
            <a:ext cx="46634" cy="39319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8" name="Shape 520"/>
          <p:cNvSpPr/>
          <p:nvPr/>
        </p:nvSpPr>
        <p:spPr>
          <a:xfrm>
            <a:off x="9302191" y="5177333"/>
            <a:ext cx="46634" cy="12802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29" name="Shape 521"/>
          <p:cNvSpPr/>
          <p:nvPr/>
        </p:nvSpPr>
        <p:spPr>
          <a:xfrm>
            <a:off x="9348826" y="5190134"/>
            <a:ext cx="46634" cy="34747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30" name="Shape 522"/>
          <p:cNvSpPr/>
          <p:nvPr/>
        </p:nvSpPr>
        <p:spPr>
          <a:xfrm>
            <a:off x="9395460" y="5208422"/>
            <a:ext cx="46634" cy="17374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31" name="Shape 523"/>
          <p:cNvSpPr/>
          <p:nvPr/>
        </p:nvSpPr>
        <p:spPr>
          <a:xfrm>
            <a:off x="7612380" y="5319979"/>
            <a:ext cx="1837944" cy="1829"/>
          </a:xfrm>
          <a:prstGeom prst="line">
            <a:avLst/>
          </a:prstGeom>
          <a:noFill/>
          <a:ln w="7290">
            <a:solidFill>
              <a:srgbClr val="1E3A54"/>
            </a:solidFill>
            <a:prstDash val="solid"/>
          </a:ln>
        </p:spPr>
      </p:sp>
      <p:sp>
        <p:nvSpPr>
          <p:cNvPr id="532" name="Text 524"/>
          <p:cNvSpPr/>
          <p:nvPr/>
        </p:nvSpPr>
        <p:spPr>
          <a:xfrm>
            <a:off x="7619695" y="5378501"/>
            <a:ext cx="495605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WUE</a:t>
            </a:r>
            <a:endParaRPr lang="en-US" sz="1000" dirty="0"/>
          </a:p>
        </p:txBody>
      </p:sp>
      <p:sp>
        <p:nvSpPr>
          <p:cNvPr id="533" name="Text 525"/>
          <p:cNvSpPr/>
          <p:nvPr/>
        </p:nvSpPr>
        <p:spPr>
          <a:xfrm>
            <a:off x="8093354" y="5378501"/>
            <a:ext cx="568757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 L/kWh</a:t>
            </a:r>
            <a:endParaRPr lang="en-US" sz="1400" dirty="0"/>
          </a:p>
        </p:txBody>
      </p:sp>
      <p:sp>
        <p:nvSpPr>
          <p:cNvPr id="534" name="Shape 526"/>
          <p:cNvSpPr/>
          <p:nvPr/>
        </p:nvSpPr>
        <p:spPr>
          <a:xfrm>
            <a:off x="8786470" y="5491886"/>
            <a:ext cx="46634" cy="37490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35" name="Shape 527"/>
          <p:cNvSpPr/>
          <p:nvPr/>
        </p:nvSpPr>
        <p:spPr>
          <a:xfrm>
            <a:off x="8833104" y="5512918"/>
            <a:ext cx="46634" cy="15545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36" name="Shape 528"/>
          <p:cNvSpPr/>
          <p:nvPr/>
        </p:nvSpPr>
        <p:spPr>
          <a:xfrm>
            <a:off x="8880653" y="5512918"/>
            <a:ext cx="46634" cy="37490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37" name="Shape 529"/>
          <p:cNvSpPr/>
          <p:nvPr/>
        </p:nvSpPr>
        <p:spPr>
          <a:xfrm>
            <a:off x="8927287" y="5523890"/>
            <a:ext cx="46634" cy="26518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38" name="Shape 530"/>
          <p:cNvSpPr/>
          <p:nvPr/>
        </p:nvSpPr>
        <p:spPr>
          <a:xfrm>
            <a:off x="8973922" y="5498287"/>
            <a:ext cx="46634" cy="26518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39" name="Shape 531"/>
          <p:cNvSpPr/>
          <p:nvPr/>
        </p:nvSpPr>
        <p:spPr>
          <a:xfrm>
            <a:off x="9020556" y="5498287"/>
            <a:ext cx="46634" cy="21946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0" name="Shape 532"/>
          <p:cNvSpPr/>
          <p:nvPr/>
        </p:nvSpPr>
        <p:spPr>
          <a:xfrm>
            <a:off x="9068105" y="5462626"/>
            <a:ext cx="46634" cy="56693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1" name="Shape 533"/>
          <p:cNvSpPr/>
          <p:nvPr/>
        </p:nvSpPr>
        <p:spPr>
          <a:xfrm>
            <a:off x="9114739" y="5462626"/>
            <a:ext cx="46634" cy="17374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2" name="Shape 534"/>
          <p:cNvSpPr/>
          <p:nvPr/>
        </p:nvSpPr>
        <p:spPr>
          <a:xfrm>
            <a:off x="9161374" y="5480914"/>
            <a:ext cx="46634" cy="32918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3" name="Shape 535"/>
          <p:cNvSpPr/>
          <p:nvPr/>
        </p:nvSpPr>
        <p:spPr>
          <a:xfrm>
            <a:off x="9208008" y="5493715"/>
            <a:ext cx="46634" cy="20117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4" name="Shape 536"/>
          <p:cNvSpPr/>
          <p:nvPr/>
        </p:nvSpPr>
        <p:spPr>
          <a:xfrm>
            <a:off x="9255557" y="5454396"/>
            <a:ext cx="46634" cy="39319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5" name="Shape 537"/>
          <p:cNvSpPr/>
          <p:nvPr/>
        </p:nvSpPr>
        <p:spPr>
          <a:xfrm>
            <a:off x="9302191" y="5454396"/>
            <a:ext cx="46634" cy="12802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6" name="Shape 538"/>
          <p:cNvSpPr/>
          <p:nvPr/>
        </p:nvSpPr>
        <p:spPr>
          <a:xfrm>
            <a:off x="9348826" y="5467198"/>
            <a:ext cx="46634" cy="34747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7" name="Shape 539"/>
          <p:cNvSpPr/>
          <p:nvPr/>
        </p:nvSpPr>
        <p:spPr>
          <a:xfrm>
            <a:off x="9395460" y="5484571"/>
            <a:ext cx="46634" cy="17374"/>
          </a:xfrm>
          <a:prstGeom prst="line">
            <a:avLst/>
          </a:prstGeom>
          <a:noFill/>
          <a:ln w="11671">
            <a:solidFill>
              <a:srgbClr val="20D6F0"/>
            </a:solidFill>
            <a:prstDash val="solid"/>
          </a:ln>
        </p:spPr>
      </p:sp>
      <p:sp>
        <p:nvSpPr>
          <p:cNvPr id="548" name="Shape 540"/>
          <p:cNvSpPr/>
          <p:nvPr/>
        </p:nvSpPr>
        <p:spPr>
          <a:xfrm>
            <a:off x="7612380" y="5597042"/>
            <a:ext cx="1837944" cy="1829"/>
          </a:xfrm>
          <a:prstGeom prst="line">
            <a:avLst/>
          </a:prstGeom>
          <a:noFill/>
          <a:ln w="7290">
            <a:solidFill>
              <a:srgbClr val="1E3A54"/>
            </a:solidFill>
            <a:prstDash val="solid"/>
          </a:ln>
        </p:spPr>
      </p:sp>
      <p:sp>
        <p:nvSpPr>
          <p:cNvPr id="549" name="Text 541"/>
          <p:cNvSpPr/>
          <p:nvPr/>
        </p:nvSpPr>
        <p:spPr>
          <a:xfrm>
            <a:off x="7619695" y="5655564"/>
            <a:ext cx="495605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DCiE</a:t>
            </a:r>
            <a:endParaRPr lang="en-US" sz="1000" dirty="0"/>
          </a:p>
        </p:txBody>
      </p:sp>
      <p:sp>
        <p:nvSpPr>
          <p:cNvPr id="550" name="Text 542"/>
          <p:cNvSpPr/>
          <p:nvPr/>
        </p:nvSpPr>
        <p:spPr>
          <a:xfrm>
            <a:off x="8093354" y="5655564"/>
            <a:ext cx="568757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8C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400" dirty="0"/>
          </a:p>
        </p:txBody>
      </p:sp>
      <p:sp>
        <p:nvSpPr>
          <p:cNvPr id="551" name="Shape 543"/>
          <p:cNvSpPr/>
          <p:nvPr/>
        </p:nvSpPr>
        <p:spPr>
          <a:xfrm>
            <a:off x="8786470" y="5768035"/>
            <a:ext cx="46634" cy="37490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52" name="Shape 544"/>
          <p:cNvSpPr/>
          <p:nvPr/>
        </p:nvSpPr>
        <p:spPr>
          <a:xfrm>
            <a:off x="8833104" y="5789981"/>
            <a:ext cx="46634" cy="15545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53" name="Shape 545"/>
          <p:cNvSpPr/>
          <p:nvPr/>
        </p:nvSpPr>
        <p:spPr>
          <a:xfrm>
            <a:off x="8880653" y="5789981"/>
            <a:ext cx="46634" cy="37490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54" name="Shape 546"/>
          <p:cNvSpPr/>
          <p:nvPr/>
        </p:nvSpPr>
        <p:spPr>
          <a:xfrm>
            <a:off x="8927287" y="5800954"/>
            <a:ext cx="46634" cy="26518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55" name="Shape 547"/>
          <p:cNvSpPr/>
          <p:nvPr/>
        </p:nvSpPr>
        <p:spPr>
          <a:xfrm>
            <a:off x="8973922" y="5775350"/>
            <a:ext cx="46634" cy="26518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56" name="Shape 548"/>
          <p:cNvSpPr/>
          <p:nvPr/>
        </p:nvSpPr>
        <p:spPr>
          <a:xfrm>
            <a:off x="9020556" y="5775350"/>
            <a:ext cx="46634" cy="21946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57" name="Shape 549"/>
          <p:cNvSpPr/>
          <p:nvPr/>
        </p:nvSpPr>
        <p:spPr>
          <a:xfrm>
            <a:off x="9068105" y="5739689"/>
            <a:ext cx="46634" cy="56693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58" name="Shape 550"/>
          <p:cNvSpPr/>
          <p:nvPr/>
        </p:nvSpPr>
        <p:spPr>
          <a:xfrm>
            <a:off x="9114739" y="5739689"/>
            <a:ext cx="46634" cy="17374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59" name="Shape 551"/>
          <p:cNvSpPr/>
          <p:nvPr/>
        </p:nvSpPr>
        <p:spPr>
          <a:xfrm>
            <a:off x="9161374" y="5757062"/>
            <a:ext cx="46634" cy="32918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60" name="Shape 552"/>
          <p:cNvSpPr/>
          <p:nvPr/>
        </p:nvSpPr>
        <p:spPr>
          <a:xfrm>
            <a:off x="9208008" y="5770778"/>
            <a:ext cx="46634" cy="20117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61" name="Shape 553"/>
          <p:cNvSpPr/>
          <p:nvPr/>
        </p:nvSpPr>
        <p:spPr>
          <a:xfrm>
            <a:off x="9255557" y="5731459"/>
            <a:ext cx="46634" cy="39319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62" name="Shape 554"/>
          <p:cNvSpPr/>
          <p:nvPr/>
        </p:nvSpPr>
        <p:spPr>
          <a:xfrm>
            <a:off x="9302191" y="5731459"/>
            <a:ext cx="46634" cy="12802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63" name="Shape 555"/>
          <p:cNvSpPr/>
          <p:nvPr/>
        </p:nvSpPr>
        <p:spPr>
          <a:xfrm>
            <a:off x="9348826" y="5744261"/>
            <a:ext cx="46634" cy="34747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64" name="Shape 556"/>
          <p:cNvSpPr/>
          <p:nvPr/>
        </p:nvSpPr>
        <p:spPr>
          <a:xfrm>
            <a:off x="9395460" y="5761634"/>
            <a:ext cx="46634" cy="17374"/>
          </a:xfrm>
          <a:prstGeom prst="line">
            <a:avLst/>
          </a:prstGeom>
          <a:noFill/>
          <a:ln w="11671">
            <a:solidFill>
              <a:srgbClr val="58C36A"/>
            </a:solidFill>
            <a:prstDash val="solid"/>
          </a:ln>
        </p:spPr>
      </p:sp>
      <p:sp>
        <p:nvSpPr>
          <p:cNvPr id="565" name="Shape 557"/>
          <p:cNvSpPr/>
          <p:nvPr/>
        </p:nvSpPr>
        <p:spPr>
          <a:xfrm>
            <a:off x="7612380" y="5874106"/>
            <a:ext cx="1837944" cy="1829"/>
          </a:xfrm>
          <a:prstGeom prst="line">
            <a:avLst/>
          </a:prstGeom>
          <a:noFill/>
          <a:ln w="7290">
            <a:solidFill>
              <a:srgbClr val="1E3A54"/>
            </a:solidFill>
            <a:prstDash val="solid"/>
          </a:ln>
        </p:spPr>
      </p:sp>
      <p:sp>
        <p:nvSpPr>
          <p:cNvPr id="566" name="Text 558"/>
          <p:cNvSpPr/>
          <p:nvPr/>
        </p:nvSpPr>
        <p:spPr>
          <a:xfrm>
            <a:off x="7619695" y="5932627"/>
            <a:ext cx="495605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Load</a:t>
            </a:r>
            <a:endParaRPr lang="en-US" sz="1000" dirty="0"/>
          </a:p>
        </p:txBody>
      </p:sp>
      <p:sp>
        <p:nvSpPr>
          <p:cNvPr id="567" name="Text 559"/>
          <p:cNvSpPr/>
          <p:nvPr/>
        </p:nvSpPr>
        <p:spPr>
          <a:xfrm>
            <a:off x="8093354" y="5932627"/>
            <a:ext cx="568757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B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2,846 kW</a:t>
            </a:r>
            <a:endParaRPr lang="en-US" sz="1400" dirty="0"/>
          </a:p>
        </p:txBody>
      </p:sp>
      <p:sp>
        <p:nvSpPr>
          <p:cNvPr id="568" name="Shape 560"/>
          <p:cNvSpPr/>
          <p:nvPr/>
        </p:nvSpPr>
        <p:spPr>
          <a:xfrm>
            <a:off x="8786470" y="6045098"/>
            <a:ext cx="46634" cy="37490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69" name="Shape 561"/>
          <p:cNvSpPr/>
          <p:nvPr/>
        </p:nvSpPr>
        <p:spPr>
          <a:xfrm>
            <a:off x="8833104" y="6067044"/>
            <a:ext cx="46634" cy="15545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0" name="Shape 562"/>
          <p:cNvSpPr/>
          <p:nvPr/>
        </p:nvSpPr>
        <p:spPr>
          <a:xfrm>
            <a:off x="8880653" y="6067044"/>
            <a:ext cx="46634" cy="37490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1" name="Shape 563"/>
          <p:cNvSpPr/>
          <p:nvPr/>
        </p:nvSpPr>
        <p:spPr>
          <a:xfrm>
            <a:off x="8927287" y="6078017"/>
            <a:ext cx="46634" cy="26518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2" name="Shape 564"/>
          <p:cNvSpPr/>
          <p:nvPr/>
        </p:nvSpPr>
        <p:spPr>
          <a:xfrm>
            <a:off x="8973922" y="6051499"/>
            <a:ext cx="46634" cy="26518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3" name="Shape 565"/>
          <p:cNvSpPr/>
          <p:nvPr/>
        </p:nvSpPr>
        <p:spPr>
          <a:xfrm>
            <a:off x="9020556" y="6051499"/>
            <a:ext cx="46634" cy="21946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4" name="Shape 566"/>
          <p:cNvSpPr/>
          <p:nvPr/>
        </p:nvSpPr>
        <p:spPr>
          <a:xfrm>
            <a:off x="9068105" y="6016752"/>
            <a:ext cx="46634" cy="56693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5" name="Shape 567"/>
          <p:cNvSpPr/>
          <p:nvPr/>
        </p:nvSpPr>
        <p:spPr>
          <a:xfrm>
            <a:off x="9114739" y="6016752"/>
            <a:ext cx="46634" cy="17374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6" name="Shape 568"/>
          <p:cNvSpPr/>
          <p:nvPr/>
        </p:nvSpPr>
        <p:spPr>
          <a:xfrm>
            <a:off x="9161374" y="6034126"/>
            <a:ext cx="46634" cy="32918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7" name="Shape 569"/>
          <p:cNvSpPr/>
          <p:nvPr/>
        </p:nvSpPr>
        <p:spPr>
          <a:xfrm>
            <a:off x="9208008" y="6047842"/>
            <a:ext cx="46634" cy="20117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8" name="Shape 570"/>
          <p:cNvSpPr/>
          <p:nvPr/>
        </p:nvSpPr>
        <p:spPr>
          <a:xfrm>
            <a:off x="9255557" y="6008522"/>
            <a:ext cx="46634" cy="39319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79" name="Shape 571"/>
          <p:cNvSpPr/>
          <p:nvPr/>
        </p:nvSpPr>
        <p:spPr>
          <a:xfrm>
            <a:off x="9302191" y="6008522"/>
            <a:ext cx="46634" cy="12802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80" name="Shape 572"/>
          <p:cNvSpPr/>
          <p:nvPr/>
        </p:nvSpPr>
        <p:spPr>
          <a:xfrm>
            <a:off x="9348826" y="6021324"/>
            <a:ext cx="46634" cy="34747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81" name="Shape 573"/>
          <p:cNvSpPr/>
          <p:nvPr/>
        </p:nvSpPr>
        <p:spPr>
          <a:xfrm>
            <a:off x="9395460" y="6038698"/>
            <a:ext cx="46634" cy="17374"/>
          </a:xfrm>
          <a:prstGeom prst="line">
            <a:avLst/>
          </a:prstGeom>
          <a:noFill/>
          <a:ln w="11671">
            <a:solidFill>
              <a:srgbClr val="F6B91E"/>
            </a:solidFill>
            <a:prstDash val="solid"/>
          </a:ln>
        </p:spPr>
      </p:sp>
      <p:sp>
        <p:nvSpPr>
          <p:cNvPr id="582" name="Shape 574"/>
          <p:cNvSpPr/>
          <p:nvPr/>
        </p:nvSpPr>
        <p:spPr>
          <a:xfrm>
            <a:off x="9756648" y="772668"/>
            <a:ext cx="2333549" cy="5466283"/>
          </a:xfrm>
          <a:prstGeom prst="roundRect">
            <a:avLst>
              <a:gd name="adj" fmla="val 2508"/>
            </a:avLst>
          </a:prstGeom>
          <a:solidFill>
            <a:srgbClr val="071A2C">
              <a:alpha val="94000"/>
            </a:srgbClr>
          </a:solidFill>
          <a:ln w="7290">
            <a:solidFill>
              <a:srgbClr val="2E5577"/>
            </a:solidFill>
            <a:prstDash val="solid"/>
          </a:ln>
        </p:spPr>
      </p:sp>
      <p:sp>
        <p:nvSpPr>
          <p:cNvPr id="583" name="Shape 575"/>
          <p:cNvSpPr/>
          <p:nvPr/>
        </p:nvSpPr>
        <p:spPr>
          <a:xfrm>
            <a:off x="9858146" y="845820"/>
            <a:ext cx="233172" cy="233172"/>
          </a:xfrm>
          <a:prstGeom prst="ellipse">
            <a:avLst/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584" name="Text 576"/>
          <p:cNvSpPr/>
          <p:nvPr/>
        </p:nvSpPr>
        <p:spPr>
          <a:xfrm>
            <a:off x="9858146" y="845820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85" name="Text 577"/>
          <p:cNvSpPr/>
          <p:nvPr/>
        </p:nvSpPr>
        <p:spPr>
          <a:xfrm>
            <a:off x="10164470" y="823874"/>
            <a:ext cx="1603858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Playbook</a:t>
            </a:r>
            <a:endParaRPr lang="en-US" sz="1700" dirty="0"/>
          </a:p>
        </p:txBody>
      </p:sp>
      <p:sp>
        <p:nvSpPr>
          <p:cNvPr id="586" name="Text 578"/>
          <p:cNvSpPr/>
          <p:nvPr/>
        </p:nvSpPr>
        <p:spPr>
          <a:xfrm>
            <a:off x="9902038" y="1071677"/>
            <a:ext cx="1895551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-&gt; Diagnose -&gt; Decide -&gt; Act -&gt; Verify</a:t>
            </a:r>
            <a:endParaRPr lang="en-US" sz="900" dirty="0"/>
          </a:p>
        </p:txBody>
      </p:sp>
      <p:sp>
        <p:nvSpPr>
          <p:cNvPr id="587" name="Shape 579"/>
          <p:cNvSpPr/>
          <p:nvPr/>
        </p:nvSpPr>
        <p:spPr>
          <a:xfrm>
            <a:off x="9960559" y="1282903"/>
            <a:ext cx="1939442" cy="495605"/>
          </a:xfrm>
          <a:prstGeom prst="roundRect">
            <a:avLst>
              <a:gd name="adj" fmla="val 11808"/>
            </a:avLst>
          </a:prstGeom>
          <a:solidFill>
            <a:srgbClr val="07172A"/>
          </a:solidFill>
          <a:ln w="7290">
            <a:solidFill>
              <a:srgbClr val="415B2A"/>
            </a:solidFill>
            <a:prstDash val="solid"/>
          </a:ln>
        </p:spPr>
      </p:sp>
      <p:sp>
        <p:nvSpPr>
          <p:cNvPr id="588" name="Shape 580"/>
          <p:cNvSpPr/>
          <p:nvPr/>
        </p:nvSpPr>
        <p:spPr>
          <a:xfrm>
            <a:off x="9872777" y="1369771"/>
            <a:ext cx="233172" cy="233172"/>
          </a:xfrm>
          <a:prstGeom prst="ellipse">
            <a:avLst/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589" name="Text 581"/>
          <p:cNvSpPr/>
          <p:nvPr/>
        </p:nvSpPr>
        <p:spPr>
          <a:xfrm>
            <a:off x="9872777" y="1369771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590" name="Image 6" descr="C:\Users\user\Documents\Codex\2026-06-24\v-home-repos\work\pngtopptx-github\work\generated-slide-validation\assets\icons\search_l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8362" y="1399032"/>
            <a:ext cx="262433" cy="262433"/>
          </a:xfrm>
          <a:prstGeom prst="rect">
            <a:avLst/>
          </a:prstGeom>
        </p:spPr>
      </p:pic>
      <p:sp>
        <p:nvSpPr>
          <p:cNvPr id="591" name="Text 582"/>
          <p:cNvSpPr/>
          <p:nvPr/>
        </p:nvSpPr>
        <p:spPr>
          <a:xfrm>
            <a:off x="10573207" y="1369771"/>
            <a:ext cx="948233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050" dirty="0"/>
          </a:p>
        </p:txBody>
      </p:sp>
      <p:sp>
        <p:nvSpPr>
          <p:cNvPr id="592" name="Text 583"/>
          <p:cNvSpPr/>
          <p:nvPr/>
        </p:nvSpPr>
        <p:spPr>
          <a:xfrm>
            <a:off x="10573207" y="1516075"/>
            <a:ext cx="1137514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/ Anomaly / Trend</a:t>
            </a:r>
            <a:endParaRPr lang="en-US" sz="8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sensor health</a:t>
            </a:r>
            <a:endParaRPr lang="en-US" sz="820" dirty="0"/>
          </a:p>
        </p:txBody>
      </p:sp>
      <p:sp>
        <p:nvSpPr>
          <p:cNvPr id="593" name="Shape 584"/>
          <p:cNvSpPr/>
          <p:nvPr/>
        </p:nvSpPr>
        <p:spPr>
          <a:xfrm>
            <a:off x="9960559" y="1850746"/>
            <a:ext cx="1939442" cy="495605"/>
          </a:xfrm>
          <a:prstGeom prst="roundRect">
            <a:avLst>
              <a:gd name="adj" fmla="val 11808"/>
            </a:avLst>
          </a:prstGeom>
          <a:solidFill>
            <a:srgbClr val="07172A"/>
          </a:solidFill>
          <a:ln w="7290">
            <a:solidFill>
              <a:srgbClr val="415B2A"/>
            </a:solidFill>
            <a:prstDash val="solid"/>
          </a:ln>
        </p:spPr>
      </p:sp>
      <p:sp>
        <p:nvSpPr>
          <p:cNvPr id="594" name="Shape 585"/>
          <p:cNvSpPr/>
          <p:nvPr/>
        </p:nvSpPr>
        <p:spPr>
          <a:xfrm>
            <a:off x="9872777" y="1938528"/>
            <a:ext cx="233172" cy="233172"/>
          </a:xfrm>
          <a:prstGeom prst="ellipse">
            <a:avLst/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595" name="Text 586"/>
          <p:cNvSpPr/>
          <p:nvPr/>
        </p:nvSpPr>
        <p:spPr>
          <a:xfrm>
            <a:off x="9872777" y="1938528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596" name="Image 7" descr="C:\Users\user\Documents\Codex\2026-06-24\v-home-repos\work\pngtopptx-github\work\generated-slide-validation\assets\icons\chartline_l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8362" y="1967789"/>
            <a:ext cx="262433" cy="262433"/>
          </a:xfrm>
          <a:prstGeom prst="rect">
            <a:avLst/>
          </a:prstGeom>
        </p:spPr>
      </p:pic>
      <p:sp>
        <p:nvSpPr>
          <p:cNvPr id="597" name="Text 587"/>
          <p:cNvSpPr/>
          <p:nvPr/>
        </p:nvSpPr>
        <p:spPr>
          <a:xfrm>
            <a:off x="10573207" y="1938528"/>
            <a:ext cx="948233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050" dirty="0"/>
          </a:p>
        </p:txBody>
      </p:sp>
      <p:sp>
        <p:nvSpPr>
          <p:cNvPr id="598" name="Text 588"/>
          <p:cNvSpPr/>
          <p:nvPr/>
        </p:nvSpPr>
        <p:spPr>
          <a:xfrm>
            <a:off x="10573207" y="2083918"/>
            <a:ext cx="1137514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loop / zone</a:t>
            </a:r>
            <a:endParaRPr lang="en-US" sz="8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recent changes</a:t>
            </a:r>
            <a:endParaRPr lang="en-US" sz="820" dirty="0"/>
          </a:p>
        </p:txBody>
      </p:sp>
      <p:sp>
        <p:nvSpPr>
          <p:cNvPr id="599" name="Shape 589"/>
          <p:cNvSpPr/>
          <p:nvPr/>
        </p:nvSpPr>
        <p:spPr>
          <a:xfrm>
            <a:off x="9960559" y="2419502"/>
            <a:ext cx="1939442" cy="495605"/>
          </a:xfrm>
          <a:prstGeom prst="roundRect">
            <a:avLst>
              <a:gd name="adj" fmla="val 11808"/>
            </a:avLst>
          </a:prstGeom>
          <a:solidFill>
            <a:srgbClr val="07172A"/>
          </a:solidFill>
          <a:ln w="7290">
            <a:solidFill>
              <a:srgbClr val="415B2A"/>
            </a:solidFill>
            <a:prstDash val="solid"/>
          </a:ln>
        </p:spPr>
      </p:sp>
      <p:sp>
        <p:nvSpPr>
          <p:cNvPr id="600" name="Shape 590"/>
          <p:cNvSpPr/>
          <p:nvPr/>
        </p:nvSpPr>
        <p:spPr>
          <a:xfrm>
            <a:off x="9872777" y="2507285"/>
            <a:ext cx="233172" cy="233172"/>
          </a:xfrm>
          <a:prstGeom prst="ellipse">
            <a:avLst/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601" name="Text 591"/>
          <p:cNvSpPr/>
          <p:nvPr/>
        </p:nvSpPr>
        <p:spPr>
          <a:xfrm>
            <a:off x="9872777" y="2507285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602" name="Image 8" descr="C:\Users\user\Documents\Codex\2026-06-24\v-home-repos\work\pngtopptx-github\work\generated-slide-validation\assets\icons\shield_l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8362" y="2536546"/>
            <a:ext cx="262433" cy="262433"/>
          </a:xfrm>
          <a:prstGeom prst="rect">
            <a:avLst/>
          </a:prstGeom>
        </p:spPr>
      </p:pic>
      <p:sp>
        <p:nvSpPr>
          <p:cNvPr id="603" name="Text 592"/>
          <p:cNvSpPr/>
          <p:nvPr/>
        </p:nvSpPr>
        <p:spPr>
          <a:xfrm>
            <a:off x="10573207" y="2507285"/>
            <a:ext cx="948233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050" dirty="0"/>
          </a:p>
        </p:txBody>
      </p:sp>
      <p:sp>
        <p:nvSpPr>
          <p:cNvPr id="604" name="Text 593"/>
          <p:cNvSpPr/>
          <p:nvPr/>
        </p:nvSpPr>
        <p:spPr>
          <a:xfrm>
            <a:off x="10573207" y="2652674"/>
            <a:ext cx="1137514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vs. urgency</a:t>
            </a:r>
            <a:endParaRPr lang="en-US" sz="8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mitigation path</a:t>
            </a:r>
            <a:endParaRPr lang="en-US" sz="820" dirty="0"/>
          </a:p>
        </p:txBody>
      </p:sp>
      <p:sp>
        <p:nvSpPr>
          <p:cNvPr id="605" name="Shape 594"/>
          <p:cNvSpPr/>
          <p:nvPr/>
        </p:nvSpPr>
        <p:spPr>
          <a:xfrm>
            <a:off x="9960559" y="2988259"/>
            <a:ext cx="1939442" cy="495605"/>
          </a:xfrm>
          <a:prstGeom prst="roundRect">
            <a:avLst>
              <a:gd name="adj" fmla="val 11808"/>
            </a:avLst>
          </a:prstGeom>
          <a:solidFill>
            <a:srgbClr val="07172A"/>
          </a:solidFill>
          <a:ln w="7290">
            <a:solidFill>
              <a:srgbClr val="415B2A"/>
            </a:solidFill>
            <a:prstDash val="solid"/>
          </a:ln>
        </p:spPr>
      </p:sp>
      <p:sp>
        <p:nvSpPr>
          <p:cNvPr id="606" name="Shape 595"/>
          <p:cNvSpPr/>
          <p:nvPr/>
        </p:nvSpPr>
        <p:spPr>
          <a:xfrm>
            <a:off x="9872777" y="3075127"/>
            <a:ext cx="233172" cy="233172"/>
          </a:xfrm>
          <a:prstGeom prst="ellipse">
            <a:avLst/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607" name="Text 596"/>
          <p:cNvSpPr/>
          <p:nvPr/>
        </p:nvSpPr>
        <p:spPr>
          <a:xfrm>
            <a:off x="9872777" y="3075127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608" name="Image 9" descr="C:\Users\user\Documents\Codex\2026-06-24\v-home-repos\work\pngtopptx-github\work\generated-slide-validation\assets\icons\wrench_l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8362" y="3104388"/>
            <a:ext cx="262433" cy="262433"/>
          </a:xfrm>
          <a:prstGeom prst="rect">
            <a:avLst/>
          </a:prstGeom>
        </p:spPr>
      </p:pic>
      <p:sp>
        <p:nvSpPr>
          <p:cNvPr id="609" name="Text 597"/>
          <p:cNvSpPr/>
          <p:nvPr/>
        </p:nvSpPr>
        <p:spPr>
          <a:xfrm>
            <a:off x="10573207" y="3075127"/>
            <a:ext cx="948233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50" dirty="0"/>
          </a:p>
        </p:txBody>
      </p:sp>
      <p:sp>
        <p:nvSpPr>
          <p:cNvPr id="610" name="Text 598"/>
          <p:cNvSpPr/>
          <p:nvPr/>
        </p:nvSpPr>
        <p:spPr>
          <a:xfrm>
            <a:off x="10573207" y="3221431"/>
            <a:ext cx="1137514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runbook</a:t>
            </a:r>
            <a:endParaRPr lang="en-US" sz="8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&amp; log</a:t>
            </a:r>
            <a:endParaRPr lang="en-US" sz="820" dirty="0"/>
          </a:p>
        </p:txBody>
      </p:sp>
      <p:sp>
        <p:nvSpPr>
          <p:cNvPr id="611" name="Shape 599"/>
          <p:cNvSpPr/>
          <p:nvPr/>
        </p:nvSpPr>
        <p:spPr>
          <a:xfrm>
            <a:off x="9960559" y="3556102"/>
            <a:ext cx="1939442" cy="495605"/>
          </a:xfrm>
          <a:prstGeom prst="roundRect">
            <a:avLst>
              <a:gd name="adj" fmla="val 11808"/>
            </a:avLst>
          </a:prstGeom>
          <a:solidFill>
            <a:srgbClr val="07172A"/>
          </a:solidFill>
          <a:ln w="7290">
            <a:solidFill>
              <a:srgbClr val="415B2A"/>
            </a:solidFill>
            <a:prstDash val="solid"/>
          </a:ln>
        </p:spPr>
      </p:sp>
      <p:sp>
        <p:nvSpPr>
          <p:cNvPr id="612" name="Shape 600"/>
          <p:cNvSpPr/>
          <p:nvPr/>
        </p:nvSpPr>
        <p:spPr>
          <a:xfrm>
            <a:off x="9872777" y="3643884"/>
            <a:ext cx="233172" cy="233172"/>
          </a:xfrm>
          <a:prstGeom prst="ellipse">
            <a:avLst/>
          </a:prstGeom>
          <a:solidFill>
            <a:srgbClr val="A8D642"/>
          </a:solidFill>
          <a:ln w="7290">
            <a:solidFill>
              <a:srgbClr val="A8D642"/>
            </a:solidFill>
            <a:prstDash val="solid"/>
          </a:ln>
        </p:spPr>
      </p:sp>
      <p:sp>
        <p:nvSpPr>
          <p:cNvPr id="613" name="Text 601"/>
          <p:cNvSpPr/>
          <p:nvPr/>
        </p:nvSpPr>
        <p:spPr>
          <a:xfrm>
            <a:off x="9872777" y="3643884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pic>
        <p:nvPicPr>
          <p:cNvPr id="614" name="Image 10" descr="C:\Users\user\Documents\Codex\2026-06-24\v-home-repos\work\pngtopptx-github\work\generated-slide-validation\assets\icons\checkcircle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8362" y="3673145"/>
            <a:ext cx="262433" cy="262433"/>
          </a:xfrm>
          <a:prstGeom prst="rect">
            <a:avLst/>
          </a:prstGeom>
        </p:spPr>
      </p:pic>
      <p:sp>
        <p:nvSpPr>
          <p:cNvPr id="615" name="Text 602"/>
          <p:cNvSpPr/>
          <p:nvPr/>
        </p:nvSpPr>
        <p:spPr>
          <a:xfrm>
            <a:off x="10573207" y="3643884"/>
            <a:ext cx="948233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616" name="Text 603"/>
          <p:cNvSpPr/>
          <p:nvPr/>
        </p:nvSpPr>
        <p:spPr>
          <a:xfrm>
            <a:off x="10573207" y="3790188"/>
            <a:ext cx="1137514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recovery</a:t>
            </a:r>
            <a:endParaRPr lang="en-US" sz="82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Post-incident review</a:t>
            </a:r>
            <a:endParaRPr lang="en-US" sz="820" dirty="0"/>
          </a:p>
        </p:txBody>
      </p:sp>
      <p:sp>
        <p:nvSpPr>
          <p:cNvPr id="617" name="Shape 604"/>
          <p:cNvSpPr/>
          <p:nvPr/>
        </p:nvSpPr>
        <p:spPr>
          <a:xfrm>
            <a:off x="9828886" y="4227271"/>
            <a:ext cx="2187245" cy="1894637"/>
          </a:xfrm>
          <a:prstGeom prst="roundRect">
            <a:avLst>
              <a:gd name="adj" fmla="val 3089"/>
            </a:avLst>
          </a:prstGeom>
          <a:solidFill>
            <a:srgbClr val="061323"/>
          </a:solidFill>
          <a:ln w="7290">
            <a:solidFill>
              <a:srgbClr val="415B2A"/>
            </a:solidFill>
            <a:prstDash val="solid"/>
          </a:ln>
        </p:spPr>
      </p:sp>
      <p:sp>
        <p:nvSpPr>
          <p:cNvPr id="618" name="Text 605"/>
          <p:cNvSpPr/>
          <p:nvPr/>
        </p:nvSpPr>
        <p:spPr>
          <a:xfrm>
            <a:off x="9931298" y="4314139"/>
            <a:ext cx="1458468" cy="14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 Shortcuts</a:t>
            </a:r>
            <a:endParaRPr lang="en-US" sz="1050" dirty="0"/>
          </a:p>
        </p:txBody>
      </p:sp>
      <p:sp>
        <p:nvSpPr>
          <p:cNvPr id="619" name="Shape 606"/>
          <p:cNvSpPr/>
          <p:nvPr/>
        </p:nvSpPr>
        <p:spPr>
          <a:xfrm>
            <a:off x="9916668" y="4591202"/>
            <a:ext cx="138989" cy="138074"/>
          </a:xfrm>
          <a:prstGeom prst="ellipse">
            <a:avLst/>
          </a:prstGeom>
          <a:solidFill>
            <a:srgbClr val="07172A"/>
          </a:solidFill>
          <a:ln w="7290">
            <a:solidFill>
              <a:srgbClr val="B7C8D8"/>
            </a:solidFill>
            <a:prstDash val="solid"/>
          </a:ln>
        </p:spPr>
      </p:sp>
      <p:sp>
        <p:nvSpPr>
          <p:cNvPr id="620" name="Text 607"/>
          <p:cNvSpPr/>
          <p:nvPr/>
        </p:nvSpPr>
        <p:spPr>
          <a:xfrm>
            <a:off x="9916668" y="4583887"/>
            <a:ext cx="138989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621" name="Text 608"/>
          <p:cNvSpPr/>
          <p:nvPr/>
        </p:nvSpPr>
        <p:spPr>
          <a:xfrm>
            <a:off x="10149840" y="4561942"/>
            <a:ext cx="80192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Return Temp</a:t>
            </a:r>
            <a:endParaRPr lang="en-US" sz="810" dirty="0"/>
          </a:p>
        </p:txBody>
      </p:sp>
      <p:sp>
        <p:nvSpPr>
          <p:cNvPr id="622" name="Text 609"/>
          <p:cNvSpPr/>
          <p:nvPr/>
        </p:nvSpPr>
        <p:spPr>
          <a:xfrm>
            <a:off x="11010290" y="4561942"/>
            <a:ext cx="87508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flow / Capacity</a:t>
            </a:r>
            <a:endParaRPr lang="en-US" sz="810" dirty="0"/>
          </a:p>
        </p:txBody>
      </p:sp>
      <p:sp>
        <p:nvSpPr>
          <p:cNvPr id="623" name="Shape 610"/>
          <p:cNvSpPr/>
          <p:nvPr/>
        </p:nvSpPr>
        <p:spPr>
          <a:xfrm>
            <a:off x="9916668" y="4839005"/>
            <a:ext cx="138989" cy="138074"/>
          </a:xfrm>
          <a:prstGeom prst="ellipse">
            <a:avLst/>
          </a:prstGeom>
          <a:solidFill>
            <a:srgbClr val="07172A"/>
          </a:solidFill>
          <a:ln w="7290">
            <a:solidFill>
              <a:srgbClr val="B7C8D8"/>
            </a:solidFill>
            <a:prstDash val="solid"/>
          </a:ln>
        </p:spPr>
      </p:sp>
      <p:sp>
        <p:nvSpPr>
          <p:cNvPr id="624" name="Text 611"/>
          <p:cNvSpPr/>
          <p:nvPr/>
        </p:nvSpPr>
        <p:spPr>
          <a:xfrm>
            <a:off x="9916668" y="4831690"/>
            <a:ext cx="138989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625" name="Text 612"/>
          <p:cNvSpPr/>
          <p:nvPr/>
        </p:nvSpPr>
        <p:spPr>
          <a:xfrm>
            <a:off x="10149840" y="4809744"/>
            <a:ext cx="80192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dT</a:t>
            </a:r>
            <a:endParaRPr lang="en-US" sz="810" dirty="0"/>
          </a:p>
        </p:txBody>
      </p:sp>
      <p:sp>
        <p:nvSpPr>
          <p:cNvPr id="626" name="Text 613"/>
          <p:cNvSpPr/>
          <p:nvPr/>
        </p:nvSpPr>
        <p:spPr>
          <a:xfrm>
            <a:off x="11010290" y="4809744"/>
            <a:ext cx="87508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flow / Bypass</a:t>
            </a:r>
            <a:endParaRPr lang="en-US" sz="810" dirty="0"/>
          </a:p>
        </p:txBody>
      </p:sp>
      <p:sp>
        <p:nvSpPr>
          <p:cNvPr id="627" name="Shape 614"/>
          <p:cNvSpPr/>
          <p:nvPr/>
        </p:nvSpPr>
        <p:spPr>
          <a:xfrm>
            <a:off x="9916668" y="5086807"/>
            <a:ext cx="138989" cy="138074"/>
          </a:xfrm>
          <a:prstGeom prst="ellipse">
            <a:avLst/>
          </a:prstGeom>
          <a:solidFill>
            <a:srgbClr val="07172A"/>
          </a:solidFill>
          <a:ln w="7290">
            <a:solidFill>
              <a:srgbClr val="B7C8D8"/>
            </a:solidFill>
            <a:prstDash val="solid"/>
          </a:ln>
        </p:spPr>
      </p:sp>
      <p:sp>
        <p:nvSpPr>
          <p:cNvPr id="628" name="Text 615"/>
          <p:cNvSpPr/>
          <p:nvPr/>
        </p:nvSpPr>
        <p:spPr>
          <a:xfrm>
            <a:off x="9916668" y="5079492"/>
            <a:ext cx="138989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629" name="Text 616"/>
          <p:cNvSpPr/>
          <p:nvPr/>
        </p:nvSpPr>
        <p:spPr>
          <a:xfrm>
            <a:off x="10149840" y="5057546"/>
            <a:ext cx="80192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Flow</a:t>
            </a:r>
            <a:endParaRPr lang="en-US" sz="810" dirty="0"/>
          </a:p>
        </p:txBody>
      </p:sp>
      <p:sp>
        <p:nvSpPr>
          <p:cNvPr id="630" name="Text 617"/>
          <p:cNvSpPr/>
          <p:nvPr/>
        </p:nvSpPr>
        <p:spPr>
          <a:xfrm>
            <a:off x="11010290" y="5057546"/>
            <a:ext cx="87508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/ Valve / Filter</a:t>
            </a:r>
            <a:endParaRPr lang="en-US" sz="810" dirty="0"/>
          </a:p>
        </p:txBody>
      </p:sp>
      <p:sp>
        <p:nvSpPr>
          <p:cNvPr id="631" name="Shape 618"/>
          <p:cNvSpPr/>
          <p:nvPr/>
        </p:nvSpPr>
        <p:spPr>
          <a:xfrm>
            <a:off x="9916668" y="5334610"/>
            <a:ext cx="138989" cy="138074"/>
          </a:xfrm>
          <a:prstGeom prst="ellipse">
            <a:avLst/>
          </a:prstGeom>
          <a:solidFill>
            <a:srgbClr val="07172A"/>
          </a:solidFill>
          <a:ln w="7290">
            <a:solidFill>
              <a:srgbClr val="B7C8D8"/>
            </a:solidFill>
            <a:prstDash val="solid"/>
          </a:ln>
        </p:spPr>
      </p:sp>
      <p:sp>
        <p:nvSpPr>
          <p:cNvPr id="632" name="Text 619"/>
          <p:cNvSpPr/>
          <p:nvPr/>
        </p:nvSpPr>
        <p:spPr>
          <a:xfrm>
            <a:off x="9916668" y="5327294"/>
            <a:ext cx="138989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633" name="Text 620"/>
          <p:cNvSpPr/>
          <p:nvPr/>
        </p:nvSpPr>
        <p:spPr>
          <a:xfrm>
            <a:off x="10149840" y="5305349"/>
            <a:ext cx="80192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Pressure</a:t>
            </a:r>
            <a:endParaRPr lang="en-US" sz="810" dirty="0"/>
          </a:p>
        </p:txBody>
      </p:sp>
      <p:sp>
        <p:nvSpPr>
          <p:cNvPr id="634" name="Text 621"/>
          <p:cNvSpPr/>
          <p:nvPr/>
        </p:nvSpPr>
        <p:spPr>
          <a:xfrm>
            <a:off x="11010290" y="5305349"/>
            <a:ext cx="87508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/ Blockage</a:t>
            </a:r>
            <a:endParaRPr lang="en-US" sz="810" dirty="0"/>
          </a:p>
        </p:txBody>
      </p:sp>
      <p:sp>
        <p:nvSpPr>
          <p:cNvPr id="635" name="Shape 622"/>
          <p:cNvSpPr/>
          <p:nvPr/>
        </p:nvSpPr>
        <p:spPr>
          <a:xfrm>
            <a:off x="9916668" y="5582412"/>
            <a:ext cx="138989" cy="138074"/>
          </a:xfrm>
          <a:prstGeom prst="ellipse">
            <a:avLst/>
          </a:prstGeom>
          <a:solidFill>
            <a:srgbClr val="07172A"/>
          </a:solidFill>
          <a:ln w="7290">
            <a:solidFill>
              <a:srgbClr val="B7C8D8"/>
            </a:solidFill>
            <a:prstDash val="solid"/>
          </a:ln>
        </p:spPr>
      </p:sp>
      <p:sp>
        <p:nvSpPr>
          <p:cNvPr id="636" name="Text 623"/>
          <p:cNvSpPr/>
          <p:nvPr/>
        </p:nvSpPr>
        <p:spPr>
          <a:xfrm>
            <a:off x="9916668" y="5575097"/>
            <a:ext cx="138989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637" name="Text 624"/>
          <p:cNvSpPr/>
          <p:nvPr/>
        </p:nvSpPr>
        <p:spPr>
          <a:xfrm>
            <a:off x="10149840" y="5553151"/>
            <a:ext cx="80192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Throttling</a:t>
            </a:r>
            <a:endParaRPr lang="en-US" sz="810" dirty="0"/>
          </a:p>
        </p:txBody>
      </p:sp>
      <p:sp>
        <p:nvSpPr>
          <p:cNvPr id="638" name="Text 625"/>
          <p:cNvSpPr/>
          <p:nvPr/>
        </p:nvSpPr>
        <p:spPr>
          <a:xfrm>
            <a:off x="11010290" y="5553151"/>
            <a:ext cx="87508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shed / Policy</a:t>
            </a:r>
            <a:endParaRPr lang="en-US" sz="810" dirty="0"/>
          </a:p>
        </p:txBody>
      </p:sp>
      <p:sp>
        <p:nvSpPr>
          <p:cNvPr id="639" name="Shape 626"/>
          <p:cNvSpPr/>
          <p:nvPr/>
        </p:nvSpPr>
        <p:spPr>
          <a:xfrm>
            <a:off x="9916668" y="5830214"/>
            <a:ext cx="138989" cy="138074"/>
          </a:xfrm>
          <a:prstGeom prst="ellipse">
            <a:avLst/>
          </a:prstGeom>
          <a:solidFill>
            <a:srgbClr val="07172A"/>
          </a:solidFill>
          <a:ln w="7290">
            <a:solidFill>
              <a:srgbClr val="B7C8D8"/>
            </a:solidFill>
            <a:prstDash val="solid"/>
          </a:ln>
        </p:spPr>
      </p:sp>
      <p:sp>
        <p:nvSpPr>
          <p:cNvPr id="640" name="Text 627"/>
          <p:cNvSpPr/>
          <p:nvPr/>
        </p:nvSpPr>
        <p:spPr>
          <a:xfrm>
            <a:off x="9916668" y="5822899"/>
            <a:ext cx="138989" cy="13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641" name="Text 628"/>
          <p:cNvSpPr/>
          <p:nvPr/>
        </p:nvSpPr>
        <p:spPr>
          <a:xfrm>
            <a:off x="10149840" y="5800954"/>
            <a:ext cx="80192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810" dirty="0"/>
          </a:p>
        </p:txBody>
      </p:sp>
      <p:sp>
        <p:nvSpPr>
          <p:cNvPr id="642" name="Text 629"/>
          <p:cNvSpPr/>
          <p:nvPr/>
        </p:nvSpPr>
        <p:spPr>
          <a:xfrm>
            <a:off x="11010290" y="5800954"/>
            <a:ext cx="87508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F3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-&gt; DC Ops -&gt; Vendor</a:t>
            </a:r>
            <a:endParaRPr lang="en-US" sz="810" dirty="0"/>
          </a:p>
        </p:txBody>
      </p:sp>
      <p:sp>
        <p:nvSpPr>
          <p:cNvPr id="643" name="Shape 630"/>
          <p:cNvSpPr/>
          <p:nvPr/>
        </p:nvSpPr>
        <p:spPr>
          <a:xfrm>
            <a:off x="102413" y="6296558"/>
            <a:ext cx="11987784" cy="466344"/>
          </a:xfrm>
          <a:prstGeom prst="roundRect">
            <a:avLst>
              <a:gd name="adj" fmla="val 9412"/>
            </a:avLst>
          </a:prstGeom>
          <a:solidFill>
            <a:srgbClr val="061323"/>
          </a:solidFill>
          <a:ln w="7290">
            <a:solidFill>
              <a:srgbClr val="2E5577"/>
            </a:solidFill>
            <a:prstDash val="solid"/>
          </a:ln>
        </p:spPr>
      </p:sp>
      <p:pic>
        <p:nvPicPr>
          <p:cNvPr id="644" name="Image 11" descr="C:\Users\user\Documents\Codex\2026-06-24\v-home-repos\work\pngtopptx-github\work\generated-slide-validation\assets\icons\warn_r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3172" y="6428232"/>
            <a:ext cx="233172" cy="233172"/>
          </a:xfrm>
          <a:prstGeom prst="rect">
            <a:avLst/>
          </a:prstGeom>
        </p:spPr>
      </p:pic>
      <p:sp>
        <p:nvSpPr>
          <p:cNvPr id="645" name="Text 631"/>
          <p:cNvSpPr/>
          <p:nvPr/>
        </p:nvSpPr>
        <p:spPr>
          <a:xfrm>
            <a:off x="568757" y="6413602"/>
            <a:ext cx="1005840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Alerts</a:t>
            </a:r>
            <a:endParaRPr lang="en-US" sz="880" dirty="0"/>
          </a:p>
        </p:txBody>
      </p:sp>
      <p:sp>
        <p:nvSpPr>
          <p:cNvPr id="646" name="Text 632"/>
          <p:cNvSpPr/>
          <p:nvPr/>
        </p:nvSpPr>
        <p:spPr>
          <a:xfrm>
            <a:off x="568757" y="6558991"/>
            <a:ext cx="123992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0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Critical     8 Warning</a:t>
            </a:r>
            <a:endParaRPr lang="en-US" sz="880" dirty="0"/>
          </a:p>
        </p:txBody>
      </p:sp>
      <p:sp>
        <p:nvSpPr>
          <p:cNvPr id="647" name="Shape 633"/>
          <p:cNvSpPr/>
          <p:nvPr/>
        </p:nvSpPr>
        <p:spPr>
          <a:xfrm>
            <a:off x="1794053" y="6398971"/>
            <a:ext cx="1829" cy="277063"/>
          </a:xfrm>
          <a:prstGeom prst="line">
            <a:avLst/>
          </a:prstGeom>
          <a:noFill/>
          <a:ln w="7290">
            <a:solidFill>
              <a:srgbClr val="2E5577"/>
            </a:solidFill>
            <a:prstDash val="solid"/>
          </a:ln>
        </p:spPr>
      </p:sp>
      <p:pic>
        <p:nvPicPr>
          <p:cNvPr id="648" name="Image 12" descr="C:\Users\user\Documents\Codex\2026-06-24\v-home-repos\work\pngtopptx-github\work\generated-slide-validation\assets\icons\wrench_lblu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3334" y="6428232"/>
            <a:ext cx="233172" cy="233172"/>
          </a:xfrm>
          <a:prstGeom prst="rect">
            <a:avLst/>
          </a:prstGeom>
        </p:spPr>
      </p:pic>
      <p:sp>
        <p:nvSpPr>
          <p:cNvPr id="649" name="Text 634"/>
          <p:cNvSpPr/>
          <p:nvPr/>
        </p:nvSpPr>
        <p:spPr>
          <a:xfrm>
            <a:off x="2318918" y="6413602"/>
            <a:ext cx="1005840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Maintenance</a:t>
            </a:r>
            <a:endParaRPr lang="en-US" sz="880" dirty="0"/>
          </a:p>
        </p:txBody>
      </p:sp>
      <p:sp>
        <p:nvSpPr>
          <p:cNvPr id="650" name="Text 635"/>
          <p:cNvSpPr/>
          <p:nvPr/>
        </p:nvSpPr>
        <p:spPr>
          <a:xfrm>
            <a:off x="2318918" y="6558991"/>
            <a:ext cx="123992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2 days     Pumps: 12 days</a:t>
            </a:r>
            <a:endParaRPr lang="en-US" sz="880" dirty="0"/>
          </a:p>
        </p:txBody>
      </p:sp>
      <p:sp>
        <p:nvSpPr>
          <p:cNvPr id="651" name="Shape 636"/>
          <p:cNvSpPr/>
          <p:nvPr/>
        </p:nvSpPr>
        <p:spPr>
          <a:xfrm>
            <a:off x="3544214" y="6398971"/>
            <a:ext cx="1829" cy="277063"/>
          </a:xfrm>
          <a:prstGeom prst="line">
            <a:avLst/>
          </a:prstGeom>
          <a:noFill/>
          <a:ln w="7290">
            <a:solidFill>
              <a:srgbClr val="2E5577"/>
            </a:solidFill>
            <a:prstDash val="solid"/>
          </a:ln>
        </p:spPr>
      </p:sp>
      <p:pic>
        <p:nvPicPr>
          <p:cNvPr id="652" name="Image 13" descr="C:\Users\user\Documents\Codex\2026-06-24\v-home-repos\work\pngtopptx-github\work\generated-slide-validation\assets\icons\cloud_lblu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3495" y="6428232"/>
            <a:ext cx="233172" cy="233172"/>
          </a:xfrm>
          <a:prstGeom prst="rect">
            <a:avLst/>
          </a:prstGeom>
        </p:spPr>
      </p:pic>
      <p:sp>
        <p:nvSpPr>
          <p:cNvPr id="653" name="Text 637"/>
          <p:cNvSpPr/>
          <p:nvPr/>
        </p:nvSpPr>
        <p:spPr>
          <a:xfrm>
            <a:off x="4069080" y="6413602"/>
            <a:ext cx="1005840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Impact</a:t>
            </a:r>
            <a:endParaRPr lang="en-US" sz="880" dirty="0"/>
          </a:p>
        </p:txBody>
      </p:sp>
      <p:sp>
        <p:nvSpPr>
          <p:cNvPr id="654" name="Text 638"/>
          <p:cNvSpPr/>
          <p:nvPr/>
        </p:nvSpPr>
        <p:spPr>
          <a:xfrm>
            <a:off x="4069080" y="6558991"/>
            <a:ext cx="123992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05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ambient     Risk up</a:t>
            </a:r>
            <a:endParaRPr lang="en-US" sz="880" dirty="0"/>
          </a:p>
        </p:txBody>
      </p:sp>
      <p:sp>
        <p:nvSpPr>
          <p:cNvPr id="655" name="Shape 639"/>
          <p:cNvSpPr/>
          <p:nvPr/>
        </p:nvSpPr>
        <p:spPr>
          <a:xfrm>
            <a:off x="5293462" y="6398971"/>
            <a:ext cx="1829" cy="277063"/>
          </a:xfrm>
          <a:prstGeom prst="line">
            <a:avLst/>
          </a:prstGeom>
          <a:noFill/>
          <a:ln w="7290">
            <a:solidFill>
              <a:srgbClr val="2E5577"/>
            </a:solidFill>
            <a:prstDash val="solid"/>
          </a:ln>
        </p:spPr>
      </p:sp>
      <p:pic>
        <p:nvPicPr>
          <p:cNvPr id="656" name="Image 14" descr="C:\Users\user\Documents\Codex\2026-06-24\v-home-repos\work\pngtopptx-github\work\generated-slide-validation\assets\icons\gauge_lblu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3657" y="6428232"/>
            <a:ext cx="233172" cy="233172"/>
          </a:xfrm>
          <a:prstGeom prst="rect">
            <a:avLst/>
          </a:prstGeom>
        </p:spPr>
      </p:pic>
      <p:sp>
        <p:nvSpPr>
          <p:cNvPr id="657" name="Text 640"/>
          <p:cNvSpPr/>
          <p:nvPr/>
        </p:nvSpPr>
        <p:spPr>
          <a:xfrm>
            <a:off x="5818327" y="6413602"/>
            <a:ext cx="1005840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Headroom</a:t>
            </a:r>
            <a:endParaRPr lang="en-US" sz="880" dirty="0"/>
          </a:p>
        </p:txBody>
      </p:sp>
      <p:sp>
        <p:nvSpPr>
          <p:cNvPr id="658" name="Text 641"/>
          <p:cNvSpPr/>
          <p:nvPr/>
        </p:nvSpPr>
        <p:spPr>
          <a:xfrm>
            <a:off x="5818327" y="6558991"/>
            <a:ext cx="1239926" cy="130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A8D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Chiller: 22%     Power: 18%</a:t>
            </a:r>
            <a:endParaRPr lang="en-US" sz="880" dirty="0"/>
          </a:p>
        </p:txBody>
      </p:sp>
      <p:sp>
        <p:nvSpPr>
          <p:cNvPr id="659" name="Text 642"/>
          <p:cNvSpPr/>
          <p:nvPr/>
        </p:nvSpPr>
        <p:spPr>
          <a:xfrm>
            <a:off x="7219188" y="6479438"/>
            <a:ext cx="3645713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7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validation slide  -  Editable PPTX reconstruction example  -</a:t>
            </a:r>
            <a:endParaRPr lang="en-US" sz="1300" dirty="0"/>
          </a:p>
        </p:txBody>
      </p:sp>
      <p:sp>
        <p:nvSpPr>
          <p:cNvPr id="660" name="Text 643"/>
          <p:cNvSpPr/>
          <p:nvPr/>
        </p:nvSpPr>
        <p:spPr>
          <a:xfrm>
            <a:off x="10922508" y="6479438"/>
            <a:ext cx="948233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001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2026-06-24T08:09:42Z</dcterms:created>
  <dcterms:modified xsi:type="dcterms:W3CDTF">2026-06-24T08:09:42Z</dcterms:modified>
</cp:coreProperties>
</file>